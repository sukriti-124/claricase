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as two halves. The top half is understanding the complaint - that is the part we have built and measured. The bottom half is resolving it, and that is the plan. The auditor loop is the important bit: the writer does not get the last word, and anything that fails the policy check goes back for a rewrite rather than out to the consumer.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20624"/>
            <a:ext cx="6400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18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 txBox="1"/>
          <p:nvPr/>
        </p:nvSpPr>
        <p:spPr>
          <a:xfrm>
            <a:off x="8534095" y="420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Team ClariCase</a:t>
            </a: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1185855" y="6400800"/>
            <a:ext cx="3200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206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180" kern="0" dirty="0">
                <a:solidFill>
                  <a:schemeClr val="accent1"/>
                </a:solidFill>
              </a:rPr>
              <a:t>Where this is going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Target architecture: from complaint to resolution</a:t>
            </a:r>
            <a:endParaRPr lang="en-US" sz="3400" dirty="0"/>
          </a:p>
        </p:txBody>
      </p:sp>
      <p:sp>
        <p:nvSpPr>
          <p:cNvPr id="4" name="node-Incoming Com"/>
          <p:cNvSpPr/>
          <p:nvPr/>
        </p:nvSpPr>
        <p:spPr>
          <a:xfrm>
            <a:off x="685800" y="1627632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F3E4DA"/>
          </a:solidFill>
          <a:ln w="12700">
            <a:solidFill>
              <a:srgbClr val="B065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7282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53C"/>
                </a:solidFill>
              </a:rPr>
              <a:t>Incoming Complaint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32104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What the consumer wrote, in their own words</a:t>
            </a:r>
            <a:endParaRPr lang="en-US" sz="1050" dirty="0"/>
          </a:p>
        </p:txBody>
      </p:sp>
      <p:sp>
        <p:nvSpPr>
          <p:cNvPr id="7" name="node-Vector DB + "/>
          <p:cNvSpPr/>
          <p:nvPr/>
        </p:nvSpPr>
        <p:spPr>
          <a:xfrm>
            <a:off x="8833104" y="1627632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EDE6D3"/>
          </a:solidFill>
          <a:ln w="12700">
            <a:solidFill>
              <a:srgbClr val="A893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79408" y="17282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340"/>
                </a:solidFill>
              </a:rPr>
              <a:t>Vector DB + Reranker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7940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Fetches similar past complaints and how they were resolved</a:t>
            </a:r>
            <a:endParaRPr lang="en-US" sz="1050" dirty="0"/>
          </a:p>
        </p:txBody>
      </p:sp>
      <p:sp>
        <p:nvSpPr>
          <p:cNvPr id="10" name="aet7jj"/>
          <p:cNvSpPr/>
          <p:nvPr/>
        </p:nvSpPr>
        <p:spPr>
          <a:xfrm>
            <a:off x="3172968" y="1993392"/>
            <a:ext cx="5660136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572000" y="1719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75A"/>
                </a:solidFill>
              </a:rPr>
              <a:t>complaint text</a:t>
            </a:r>
            <a:endParaRPr lang="en-US" sz="1000" dirty="0"/>
          </a:p>
        </p:txBody>
      </p:sp>
      <p:sp>
        <p:nvSpPr>
          <p:cNvPr id="12" name="a1x8rf"/>
          <p:cNvSpPr/>
          <p:nvPr/>
        </p:nvSpPr>
        <p:spPr>
          <a:xfrm>
            <a:off x="1929384" y="2359152"/>
            <a:ext cx="0" cy="36576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13" name="asdrqh"/>
          <p:cNvSpPr/>
          <p:nvPr/>
        </p:nvSpPr>
        <p:spPr>
          <a:xfrm>
            <a:off x="10076688" y="2359152"/>
            <a:ext cx="0" cy="36576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14" name="node-1"/>
          <p:cNvSpPr/>
          <p:nvPr/>
        </p:nvSpPr>
        <p:spPr>
          <a:xfrm>
            <a:off x="685800" y="2724912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" y="28346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88136" y="282549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Intake Agent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Strips personal details before anything else reads the text</a:t>
            </a:r>
            <a:endParaRPr lang="en-US" sz="1050" dirty="0"/>
          </a:p>
        </p:txBody>
      </p:sp>
      <p:sp>
        <p:nvSpPr>
          <p:cNvPr id="18" name="node-2"/>
          <p:cNvSpPr/>
          <p:nvPr/>
        </p:nvSpPr>
        <p:spPr>
          <a:xfrm>
            <a:off x="3401568" y="2724912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47872" y="28346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803904" y="282549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Product Classifier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47872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Product and team, with few-shot prompting</a:t>
            </a:r>
            <a:endParaRPr lang="en-US" sz="1050" dirty="0"/>
          </a:p>
        </p:txBody>
      </p:sp>
      <p:sp>
        <p:nvSpPr>
          <p:cNvPr id="22" name="node-3"/>
          <p:cNvSpPr/>
          <p:nvPr/>
        </p:nvSpPr>
        <p:spPr>
          <a:xfrm>
            <a:off x="6117336" y="2724912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28346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282549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Issue Classifiers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Issue within the product, plus risk and severity level</a:t>
            </a:r>
            <a:endParaRPr lang="en-US" sz="1050" dirty="0"/>
          </a:p>
        </p:txBody>
      </p:sp>
      <p:sp>
        <p:nvSpPr>
          <p:cNvPr id="26" name="node-4"/>
          <p:cNvSpPr/>
          <p:nvPr/>
        </p:nvSpPr>
        <p:spPr>
          <a:xfrm>
            <a:off x="8833104" y="2724912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79408" y="28346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82549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Root Cause Agent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979408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RAG over the retrieved history to explain why it happened</a:t>
            </a:r>
            <a:endParaRPr lang="en-US" sz="1050" dirty="0"/>
          </a:p>
        </p:txBody>
      </p:sp>
      <p:sp>
        <p:nvSpPr>
          <p:cNvPr id="30" name="a46pc9"/>
          <p:cNvSpPr/>
          <p:nvPr/>
        </p:nvSpPr>
        <p:spPr>
          <a:xfrm>
            <a:off x="3172968" y="3182112"/>
            <a:ext cx="228600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31" name="achnks"/>
          <p:cNvSpPr/>
          <p:nvPr/>
        </p:nvSpPr>
        <p:spPr>
          <a:xfrm>
            <a:off x="5888736" y="3182112"/>
            <a:ext cx="228600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32" name="aov4p1"/>
          <p:cNvSpPr/>
          <p:nvPr/>
        </p:nvSpPr>
        <p:spPr>
          <a:xfrm>
            <a:off x="8604504" y="3182112"/>
            <a:ext cx="228600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33" name="an42i4"/>
          <p:cNvSpPr/>
          <p:nvPr/>
        </p:nvSpPr>
        <p:spPr>
          <a:xfrm>
            <a:off x="10076688" y="3639312"/>
            <a:ext cx="0" cy="493776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34" name="node-5"/>
          <p:cNvSpPr/>
          <p:nvPr/>
        </p:nvSpPr>
        <p:spPr>
          <a:xfrm>
            <a:off x="8833104" y="4133088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79408" y="42428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2336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MCP + Remediator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979408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Builds the action plan and the SLA the case must meet</a:t>
            </a:r>
            <a:endParaRPr lang="en-US" sz="1050" dirty="0"/>
          </a:p>
        </p:txBody>
      </p:sp>
      <p:sp>
        <p:nvSpPr>
          <p:cNvPr id="38" name="node-6"/>
          <p:cNvSpPr/>
          <p:nvPr/>
        </p:nvSpPr>
        <p:spPr>
          <a:xfrm>
            <a:off x="6117336" y="4133088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63640" y="42428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519672" y="42336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Writer Agent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263640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Drafts the response that goes back to the consumer</a:t>
            </a:r>
            <a:endParaRPr lang="en-US" sz="1050" dirty="0"/>
          </a:p>
        </p:txBody>
      </p:sp>
      <p:sp>
        <p:nvSpPr>
          <p:cNvPr id="42" name="node-7"/>
          <p:cNvSpPr/>
          <p:nvPr/>
        </p:nvSpPr>
        <p:spPr>
          <a:xfrm>
            <a:off x="3401568" y="4133088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EDE6D5"/>
          </a:solidFill>
          <a:ln w="19050">
            <a:solidFill>
              <a:srgbClr val="8A734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47872" y="42428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7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803904" y="42336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Auditor Agent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3547872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Checks it against policy and verifies every citation</a:t>
            </a:r>
            <a:endParaRPr lang="en-US" sz="1050" dirty="0"/>
          </a:p>
        </p:txBody>
      </p:sp>
      <p:sp>
        <p:nvSpPr>
          <p:cNvPr id="46" name="ayrsir"/>
          <p:cNvSpPr/>
          <p:nvPr/>
        </p:nvSpPr>
        <p:spPr>
          <a:xfrm>
            <a:off x="8604504" y="4590288"/>
            <a:ext cx="228600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headEnd type="triangle"/>
          </a:ln>
        </p:spPr>
      </p:sp>
      <p:sp>
        <p:nvSpPr>
          <p:cNvPr id="47" name="amxa8j"/>
          <p:cNvSpPr/>
          <p:nvPr/>
        </p:nvSpPr>
        <p:spPr>
          <a:xfrm>
            <a:off x="5888736" y="4590288"/>
            <a:ext cx="228600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headEnd type="triangle"/>
          </a:ln>
        </p:spPr>
      </p:sp>
      <p:sp>
        <p:nvSpPr>
          <p:cNvPr id="48" name="f1"/>
          <p:cNvSpPr/>
          <p:nvPr/>
        </p:nvSpPr>
        <p:spPr>
          <a:xfrm>
            <a:off x="4645152" y="3886200"/>
            <a:ext cx="0" cy="246888"/>
          </a:xfrm>
          <a:prstGeom prst="line">
            <a:avLst/>
          </a:prstGeom>
          <a:noFill/>
          <a:ln w="19050">
            <a:solidFill>
              <a:srgbClr val="B0653C"/>
            </a:solidFill>
            <a:prstDash val="solid"/>
          </a:ln>
        </p:spPr>
      </p:sp>
      <p:sp>
        <p:nvSpPr>
          <p:cNvPr id="49" name="f2"/>
          <p:cNvSpPr/>
          <p:nvPr/>
        </p:nvSpPr>
        <p:spPr>
          <a:xfrm>
            <a:off x="4645152" y="3886200"/>
            <a:ext cx="2715768" cy="0"/>
          </a:xfrm>
          <a:prstGeom prst="line">
            <a:avLst/>
          </a:prstGeom>
          <a:noFill/>
          <a:ln w="19050">
            <a:solidFill>
              <a:srgbClr val="B0653C"/>
            </a:solidFill>
            <a:prstDash val="solid"/>
          </a:ln>
        </p:spPr>
      </p:sp>
      <p:sp>
        <p:nvSpPr>
          <p:cNvPr id="50" name="f3"/>
          <p:cNvSpPr/>
          <p:nvPr/>
        </p:nvSpPr>
        <p:spPr>
          <a:xfrm>
            <a:off x="7360920" y="3886200"/>
            <a:ext cx="0" cy="246888"/>
          </a:xfrm>
          <a:prstGeom prst="line">
            <a:avLst/>
          </a:prstGeom>
          <a:noFill/>
          <a:ln w="19050">
            <a:solidFill>
              <a:srgbClr val="B0653C"/>
            </a:solidFill>
            <a:prstDash val="solid"/>
            <a:tailEnd type="triangle"/>
          </a:ln>
        </p:spPr>
      </p:sp>
      <p:sp>
        <p:nvSpPr>
          <p:cNvPr id="51" name="tag-FAIL"/>
          <p:cNvSpPr/>
          <p:nvPr/>
        </p:nvSpPr>
        <p:spPr>
          <a:xfrm>
            <a:off x="5646420" y="3749040"/>
            <a:ext cx="713232" cy="274320"/>
          </a:xfrm>
          <a:prstGeom prst="roundRect">
            <a:avLst>
              <a:gd name="adj" fmla="val 33333"/>
            </a:avLst>
          </a:prstGeom>
          <a:solidFill>
            <a:srgbClr val="FAF7EF"/>
          </a:solidFill>
          <a:ln w="12700">
            <a:solidFill>
              <a:srgbClr val="B0653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46420" y="3749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B0653C"/>
                </a:solidFill>
              </a:rPr>
              <a:t>FAIL</a:t>
            </a:r>
            <a:endParaRPr lang="en-US" sz="950" dirty="0"/>
          </a:p>
        </p:txBody>
      </p:sp>
      <p:sp>
        <p:nvSpPr>
          <p:cNvPr id="53" name="a4afis"/>
          <p:cNvSpPr/>
          <p:nvPr/>
        </p:nvSpPr>
        <p:spPr>
          <a:xfrm>
            <a:off x="4645152" y="5047488"/>
            <a:ext cx="0" cy="484632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54" name="tag-PASS"/>
          <p:cNvSpPr/>
          <p:nvPr/>
        </p:nvSpPr>
        <p:spPr>
          <a:xfrm>
            <a:off x="4288536" y="5152644"/>
            <a:ext cx="713232" cy="274320"/>
          </a:xfrm>
          <a:prstGeom prst="roundRect">
            <a:avLst>
              <a:gd name="adj" fmla="val 33333"/>
            </a:avLst>
          </a:prstGeom>
          <a:solidFill>
            <a:srgbClr val="FAF7EF"/>
          </a:solidFill>
          <a:ln w="12700">
            <a:solidFill>
              <a:srgbClr val="5F6B5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288536" y="51526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5F6B52"/>
                </a:solidFill>
              </a:rPr>
              <a:t>PASS</a:t>
            </a:r>
            <a:endParaRPr lang="en-US" sz="950" dirty="0"/>
          </a:p>
        </p:txBody>
      </p:sp>
      <p:sp>
        <p:nvSpPr>
          <p:cNvPr id="56" name="node-8"/>
          <p:cNvSpPr/>
          <p:nvPr/>
        </p:nvSpPr>
        <p:spPr>
          <a:xfrm>
            <a:off x="3401568" y="5532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F2EDE0"/>
          </a:solidFill>
          <a:ln w="12700">
            <a:solidFill>
              <a:srgbClr val="DED6C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547872" y="56418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935E"/>
                </a:solidFill>
              </a:rPr>
              <a:t>8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3803904" y="563270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B26"/>
                </a:solidFill>
              </a:rPr>
              <a:t>Explainer Agent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3547872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Generates the audit trail for the whole decision</a:t>
            </a:r>
            <a:endParaRPr lang="en-US" sz="1050" dirty="0"/>
          </a:p>
        </p:txBody>
      </p:sp>
      <p:sp>
        <p:nvSpPr>
          <p:cNvPr id="60" name="node-Completed Re"/>
          <p:cNvSpPr/>
          <p:nvPr/>
        </p:nvSpPr>
        <p:spPr>
          <a:xfrm>
            <a:off x="6117336" y="5532120"/>
            <a:ext cx="5202936" cy="731520"/>
          </a:xfrm>
          <a:prstGeom prst="roundRect">
            <a:avLst>
              <a:gd name="adj" fmla="val 10000"/>
            </a:avLst>
          </a:prstGeom>
          <a:solidFill>
            <a:srgbClr val="E5EADF"/>
          </a:solidFill>
          <a:ln w="12700">
            <a:solidFill>
              <a:srgbClr val="5F6B5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63640" y="563270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F6B52"/>
                </a:solidFill>
              </a:rPr>
              <a:t>Completed Resolution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6263640" y="589788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75A"/>
                </a:solidFill>
              </a:rPr>
              <a:t>SLA compliant, with action steps and a confidence score</a:t>
            </a:r>
            <a:endParaRPr lang="en-US" sz="1050" dirty="0"/>
          </a:p>
        </p:txBody>
      </p:sp>
      <p:sp>
        <p:nvSpPr>
          <p:cNvPr id="63" name="ajfxax"/>
          <p:cNvSpPr/>
          <p:nvPr/>
        </p:nvSpPr>
        <p:spPr>
          <a:xfrm>
            <a:off x="5888736" y="5897880"/>
            <a:ext cx="228600" cy="0"/>
          </a:xfrm>
          <a:prstGeom prst="line">
            <a:avLst/>
          </a:prstGeom>
          <a:noFill/>
          <a:ln w="19050">
            <a:solidFill>
              <a:srgbClr val="8A7340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685800" y="6355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675A"/>
                </a:solidFill>
              </a:rPr>
              <a:t>Steps 1-3 are what we have today. Everything from step 4 onward is the plan, and every agent inherits the same rule as the router: act when confident, escalate when not.</a:t>
            </a:r>
            <a:endParaRPr lang="en-US" sz="1150" dirty="0"/>
          </a:p>
        </p:txBody>
      </p:sp>
      <p:sp>
        <p:nvSpPr>
          <p:cNvPr id="66" name="Text 1"/>
          <p:cNvSpPr/>
          <p:nvPr>
            <p:ph idx="103" type="body" hasCustomPrompt="1"/>
          </p:nvPr>
        </p:nvSpPr>
        <p:spPr>
          <a:xfrm>
            <a:off x="11185855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7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riCase Cream">
  <a:themeElements>
    <a:clrScheme name="ClariCase Cream">
      <a:dk1>
        <a:srgbClr val="2E2B26"/>
      </a:dk1>
      <a:lt1>
        <a:srgbClr val="FAF7EF"/>
      </a:lt1>
      <a:dk2>
        <a:srgbClr val="6E675A"/>
      </a:dk2>
      <a:lt2>
        <a:srgbClr val="F2EDE0"/>
      </a:lt2>
      <a:accent1>
        <a:srgbClr val="8A7340"/>
      </a:accent1>
      <a:accent2>
        <a:srgbClr val="A8935E"/>
      </a:accent2>
      <a:accent3>
        <a:srgbClr val="C4B58E"/>
      </a:accent3>
      <a:accent4>
        <a:srgbClr val="5F6B52"/>
      </a:accent4>
      <a:accent5>
        <a:srgbClr val="B0653C"/>
      </a:accent5>
      <a:accent6>
        <a:srgbClr val="FFFFFF"/>
      </a:accent6>
      <a:hlink>
        <a:srgbClr val="8A7340"/>
      </a:hlink>
      <a:folHlink>
        <a:srgbClr val="6E675A"/>
      </a:folHlink>
    </a:clrScheme>
    <a:fontScheme name="ClariCase Crea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ClariCase - Target Architecture</dc:title>
  <dc:subject>PptxGenJS Presentation</dc:subject>
  <dc:creator>Team ClariCase</dc:creator>
  <cp:lastModifiedBy>Team ClariCase</cp:lastModifiedBy>
  <cp:revision>1</cp:revision>
  <dcterms:created xsi:type="dcterms:W3CDTF">2026-10-06T15:26:01Z</dcterms:created>
  <dcterms:modified xsi:type="dcterms:W3CDTF">2026-10-06T15:26:01Z</dcterms:modified>
</cp:coreProperties>
</file>