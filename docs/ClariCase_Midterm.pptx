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2955690b-a81d-1059-083c-0231e8b90b15}">
          <p14:sldIdLst>
            <p14:sldId id="256"/>
          </p14:sldIdLst>
        </p14:section>
        <p14:section name="Overview" id="{6a140ea8-ff51-9b72-47e1-d1ec1c7128e4}">
          <p14:sldIdLst>
            <p14:sldId id="257"/>
          </p14:sldIdLst>
        </p14:section>
        <p14:section name="Built" id="{d49795c3-803c-e821-333e-8edff0beda3e}">
          <p14:sldIdLst>
            <p14:sldId id="258"/>
          </p14:sldIdLst>
        </p14:section>
        <p14:section name="Results" id="{f7b111b3-2dc0-086c-a854-b20a27a73349}">
          <p14:sldIdLst>
            <p14:sldId id="259"/>
          </p14:sldIdLst>
        </p14:section>
        <p14:section name="Learned" id="{0dff599f-c68a-391e-8dc7-0f70ed1a0977}">
          <p14:sldIdLst>
            <p14:sldId id="260"/>
          </p14:sldIdLst>
        </p14:section>
        <p14:section name="Limits" id="{623f8d71-cda5-67a6-7ba5-1c9689e49aec}">
          <p14:sldIdLst>
            <p14:sldId id="261"/>
          </p14:sldIdLst>
        </p14:section>
        <p14:section name="Demo" id="{8c9c3281-fbb7-29f4-0684-c321c7163a81}">
          <p14:sldIdLst>
            <p14:sldId id="262"/>
          </p14:sldIdLst>
        </p14:section>
        <p14:section name="Plan" id="{0fdbf4d8-71f5-e93e-8d24-40650b042b3d}">
          <p14:sldIdLst>
            <p14:sldId id="263"/>
          </p14:sldIdLst>
        </p14:section>
        <p14:section name="Close" id="{0b73d3e8-9e14-18f3-9579-6d3e246d27d0}">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routed automatically</c:v>
                </c:pt>
              </c:strCache>
            </c:strRef>
          </c:tx>
          <c:spPr>
            <a:solidFill>
              <a:srgbClr val="C4B58E"/>
            </a:solidFill>
            <a:effectLst/>
          </c:spPr>
          <c:invertIfNegative val="0"/>
          <c:dLbls>
            <c:numFmt formatCode="0.0&quot;%&quot;" sourceLinked="0"/>
            <c:txPr>
              <a:bodyPr/>
              <a:lstStyle/>
              <a:p>
                <a:pPr>
                  <a:defRPr b="1" i="0" strike="noStrike" sz="1400" u="none">
                    <a:solidFill>
                      <a:srgbClr val="2E2B26"/>
                    </a:solidFill>
                    <a:latin typeface="+mn-lt"/>
                  </a:defRPr>
                </a:pPr>
              </a:p>
            </c:txPr>
            <c:showLegendKey val="0"/>
            <c:showVal val="1"/>
            <c:showCatName val="0"/>
            <c:showSerName val="0"/>
            <c:showPercent val="0"/>
            <c:showBubbleSize val="0"/>
            <c:showLeaderLines val="0"/>
          </c:dLbls>
          <c:dPt>
            <c:idx val="0"/>
            <c:invertIfNegative val="0"/>
            <c:bubble3D val="0"/>
            <c:spPr>
              <a:solidFill>
                <a:srgbClr val="C4B58E"/>
              </a:solidFill>
              <a:effectLst/>
            </c:spPr>
          </c:dPt>
          <c:dPt>
            <c:idx val="1"/>
            <c:invertIfNegative val="0"/>
            <c:bubble3D val="0"/>
            <c:spPr>
              <a:solidFill>
                <a:srgbClr val="A8935E"/>
              </a:solidFill>
              <a:effectLst/>
            </c:spPr>
          </c:dPt>
          <c:dPt>
            <c:idx val="2"/>
            <c:invertIfNegative val="0"/>
            <c:bubble3D val="0"/>
            <c:spPr>
              <a:solidFill>
                <a:srgbClr val="8A7340"/>
              </a:solidFill>
              <a:effectLst/>
            </c:spPr>
          </c:dPt>
          <c:cat>
            <c:multiLvlStrRef>
              <c:f>Sheet1!$A$2:$A$4</c:f>
              <c:multiLvlStrCache>
                <c:ptCount val="3"/>
                <c:lvl>
                  <c:pt idx="0">
                    <c:v>First baseline</c:v>
                  </c:pt>
                  <c:pt idx="1">
                    <c:v>Second baseline</c:v>
                  </c:pt>
                  <c:pt idx="2">
                    <c:v>Current model</c:v>
                  </c:pt>
                </c:lvl>
              </c:multiLvlStrCache>
            </c:multiLvlStrRef>
          </c:cat>
          <c:val>
            <c:numRef>
              <c:f>Sheet1!$B$2:$B$4</c:f>
              <c:numCache>
                <c:formatCode>General</c:formatCode>
                <c:ptCount val="3"/>
                <c:pt idx="0">
                  <c:v>26.4</c:v>
                </c:pt>
                <c:pt idx="1">
                  <c:v>46.5</c:v>
                </c:pt>
                <c:pt idx="2">
                  <c:v>61.5</c:v>
                </c:pt>
              </c:numCache>
            </c:numRef>
          </c:val>
        </c:ser>
        <c:dLbls>
          <c:numFmt formatCode="0.0&quot;%&quot;" sourceLinked="0"/>
          <c:txPr>
            <a:bodyPr/>
            <a:lstStyle/>
            <a:p>
              <a:pPr>
                <a:defRPr b="1" i="0" strike="noStrike" sz="1400" u="none">
                  <a:solidFill>
                    <a:srgbClr val="2E2B26"/>
                  </a:solidFill>
                  <a:latin typeface="+mn-lt"/>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2E2B26"/>
                </a:solidFill>
                <a:latin typeface="+mn-lt"/>
              </a:defRPr>
            </a:pPr>
            <a:endParaRPr lang="en-US"/>
          </a:p>
        </c:txPr>
        <c:crossAx val="2094734552"/>
        <c:crosses val="autoZero"/>
        <c:auto val="1"/>
        <c:lblAlgn val="ctr"/>
        <c:noMultiLvlLbl val="1"/>
      </c:catAx>
      <c:valAx>
        <c:axId val="2094734552"/>
        <c:scaling>
          <c:orientation val="minMax"/>
          <c:max val="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AF7EF"/>
        </a:solidFill>
        <a:ln>
          <a:noFill/>
        </a:ln>
        <a:effectLst/>
      </c:spPr>
    </c:plotArea>
    <c:plotVisOnly val="1"/>
    <c:dispBlanksAs val="span"/>
  </c:chart>
  <c:spPr>
    <a:solidFill>
      <a:srgbClr val="FAF7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consumer writes what happened, ClariCase reads it and sends it to the right team. Four of us. The number on the right is where we are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 filing has to guess a category they do not understand. Then a human reads it just to fix that guess. That middle read is what we are removing.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is chronological. Building the corpus was the real work. Be clear that the app currently serves the earlier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quarter of the queue, then half, now almost two thirds handled with nobody reading the complaint. Measured on a window the model never trained on, with the confidence bar fixed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on this slide is the argument. Data selection first - same model, better sample, measurable gain. Label quality is the ceiling nothing can beat. Only then does the more complex model earn its place, and it adds roughly three times what the data change did. Calibration is what turns a score into a decision we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classification is the honest weak half and we lead with it. The category overlap is a taxonomy problem, not a modelling one - merging the pair is on the table. Thresholds need refitting each quarter. And we have not yet tested whether the rest of the corpus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here. Paste the debt-collector complaint, submit, show the team and the tracking ID, then the track tab. If the app is asleep, this slide is the demo. Say out loud that the app runs the earlier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accuracy is the research work. Resolution guidance and the agent are where the project is headed, both under the same confidence discipline as the router. User testing is the gap in our evidence. Risks: compute on a laptop GPU, a taxonomy that may need two teams merged, and the fact that every number so far is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not a transformer yet (compute, and we wanted a defensible simpler baseline first); is the 2026 data a true holdout (outside every split, but we have now scored on it, so we report it as drift monitoring); why not merge the two overlapping teams (that is on the table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148840"/>
            <a:ext cx="8229600" cy="1280160"/>
          </a:xfrm>
          <a:prstGeom prst="rect">
            <a:avLst/>
          </a:prstGeom>
          <a:noFill/>
          <a:ln/>
        </p:spPr>
        <p:txBody>
          <a:bodyPr wrap="square" rtlCol="0"/>
          <a:lstStyle>
            <a:lvl1pPr algn="l" indent="0" marL="0">
              <a:buNone/>
              <a:defRPr lang="en-US" sz="5600" b="1" dirty="0">
                <a:solidFill>
                  <a:schemeClr val="tx1"/>
                </a:solidFill>
              </a:defRPr>
            </a:lvl1pPr>
          </a:lstStyle>
          <a:p>
            <a:pPr algn="l" indent="0" marL="0">
              <a:buNone/>
            </a:pPr>
            <a:endParaRPr lang="en-US" sz="5600" dirty="0"/>
          </a:p>
        </p:txBody>
      </p:sp>
      <p:sp>
        <p:nvSpPr>
          <p:cNvPr id="3" name="Text 0"/>
          <p:cNvSpPr/>
          <p:nvPr>
            <p:ph idx="101" type="body" hasCustomPrompt="1"/>
          </p:nvPr>
        </p:nvSpPr>
        <p:spPr>
          <a:xfrm>
            <a:off x="685800" y="3474720"/>
            <a:ext cx="7680960" cy="77724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20624"/>
            <a:ext cx="6400800" cy="292608"/>
          </a:xfrm>
          <a:prstGeom prst="rect">
            <a:avLst/>
          </a:prstGeom>
          <a:noFill/>
          <a:ln/>
        </p:spPr>
        <p:txBody>
          <a:bodyPr wrap="square" rtlCol="0"/>
          <a:lstStyle>
            <a:lvl1pPr algn="l" indent="0" marL="0">
              <a:buNone/>
              <a:defRPr lang="en-US" sz="1300" b="1" spc="180" kern="0" dirty="0">
                <a:solidFill>
                  <a:schemeClr val="accent1"/>
                </a:solidFill>
              </a:defRPr>
            </a:lvl1pPr>
          </a:lstStyle>
          <a:p>
            <a:pPr algn="l" indent="0" marL="0">
              <a:buNone/>
            </a:pPr>
            <a:endParaRPr lang="en-US" sz="1300" dirty="0"/>
          </a:p>
        </p:txBody>
      </p:sp>
      <p:sp>
        <p:nvSpPr>
          <p:cNvPr id="3" name="Text 0"/>
          <p:cNvSpPr txBox="1"/>
          <p:nvPr/>
        </p:nvSpPr>
        <p:spPr>
          <a:xfrm>
            <a:off x="8534095" y="420624"/>
            <a:ext cx="2971800" cy="292608"/>
          </a:xfrm>
          <a:prstGeom prst="rect">
            <a:avLst/>
          </a:prstGeom>
          <a:noFill/>
          <a:ln/>
        </p:spPr>
        <p:txBody>
          <a:bodyPr wrap="square" lIns="0" tIns="0" rIns="0" bIns="0" rtlCol="0" anchor="ctr"/>
          <a:lstStyle/>
          <a:p>
            <a:pPr algn="r" indent="0" marL="0">
              <a:buNone/>
            </a:pPr>
            <a:r>
              <a:rPr lang="en-US" sz="1300" b="1" dirty="0">
                <a:solidFill>
                  <a:schemeClr val="accent2"/>
                </a:solidFill>
              </a:rPr>
              <a:t>Team ClariCase</a:t>
            </a:r>
            <a:endParaRPr lang="en-US" sz="1300" dirty="0"/>
          </a:p>
        </p:txBody>
      </p:sp>
      <p:sp>
        <p:nvSpPr>
          <p:cNvPr id="4" name="Text 1"/>
          <p:cNvSpPr/>
          <p:nvPr>
            <p:ph idx="102" type="title" hasCustomPrompt="1"/>
          </p:nvPr>
        </p:nvSpPr>
        <p:spPr>
          <a:xfrm>
            <a:off x="685800" y="786384"/>
            <a:ext cx="10789920" cy="731520"/>
          </a:xfrm>
          <a:prstGeom prst="rect">
            <a:avLst/>
          </a:prstGeom>
          <a:noFill/>
          <a:ln/>
        </p:spPr>
        <p:txBody>
          <a:bodyPr wrap="square" rtlCol="0"/>
          <a:lstStyle>
            <a:lvl1pPr algn="l" indent="0" marL="0">
              <a:buNone/>
              <a:defRPr lang="en-US" sz="3400" dirty="0">
                <a:solidFill>
                  <a:schemeClr val="tx1"/>
                </a:solidFill>
              </a:defRPr>
            </a:lvl1pPr>
          </a:lstStyle>
          <a:p>
            <a:pPr algn="l" indent="0" marL="0">
              <a:buNone/>
            </a:pPr>
            <a:endParaRPr lang="en-US" sz="3400" dirty="0"/>
          </a:p>
        </p:txBody>
      </p:sp>
      <p:sp>
        <p:nvSpPr>
          <p:cNvPr id="5" name="Text 1"/>
          <p:cNvSpPr/>
          <p:nvPr>
            <p:ph idx="103" type="body" hasCustomPrompt="1"/>
          </p:nvPr>
        </p:nvSpPr>
        <p:spPr>
          <a:xfrm>
            <a:off x="11185855" y="6400800"/>
            <a:ext cx="320040" cy="274320"/>
          </a:xfrm>
          <a:prstGeom prst="rect">
            <a:avLst/>
          </a:prstGeom>
          <a:noFill/>
          <a:ln/>
        </p:spPr>
        <p:txBody>
          <a:bodyPr wrap="square" rtlCol="0"/>
          <a:lstStyle>
            <a:lvl1pPr algn="r" indent="0" marL="0">
              <a:buNone/>
              <a:defRPr lang="en-US" sz="1000" dirty="0">
                <a:solidFill>
                  <a:schemeClr val="tx2"/>
                </a:solidFill>
              </a:defRPr>
            </a:lvl1pPr>
          </a:lstStyle>
          <a:p>
            <a:pPr algn="r" indent="0" marL="0">
              <a:buNone/>
            </a:pPr>
            <a:endParaRPr lang="en-US" sz="1000" dirty="0"/>
          </a:p>
        </p:txBody>
      </p:sp>
      <p:sp>
        <p:nvSpPr>
          <p:cNvPr id="25" name="Slide Number Placeholder 0"/>
          <p:cNvSpPr>
            <a:spLocks noGrp="1"/>
          </p:cNvSpPr>
          <p:nvPr>
            <p:ph type="sldNum" sz="quarter" idx="4294967295"/>
          </p:nvPr>
        </p:nvSpPr>
        <p:spPr>
          <a:xfrm>
            <a:off x="11185855" y="6400800"/>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75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75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halo"/>
          <p:cNvSpPr/>
          <p:nvPr/>
        </p:nvSpPr>
        <p:spPr>
          <a:xfrm>
            <a:off x="8686800" y="1371600"/>
            <a:ext cx="3017520" cy="3017520"/>
          </a:xfrm>
          <a:prstGeom prst="ellipse">
            <a:avLst/>
          </a:prstGeom>
          <a:solidFill>
            <a:srgbClr val="F2EDE0"/>
          </a:solidFill>
          <a:ln w="15875">
            <a:solidFill>
              <a:srgbClr val="8A7340"/>
            </a:solidFill>
            <a:prstDash val="solid"/>
          </a:ln>
        </p:spPr>
      </p:sp>
      <p:sp>
        <p:nvSpPr>
          <p:cNvPr id="3" name="Text 1"/>
          <p:cNvSpPr txBox="1"/>
          <p:nvPr/>
        </p:nvSpPr>
        <p:spPr>
          <a:xfrm>
            <a:off x="8686800" y="2286000"/>
            <a:ext cx="3017520" cy="731520"/>
          </a:xfrm>
          <a:prstGeom prst="rect">
            <a:avLst/>
          </a:prstGeom>
          <a:noFill/>
          <a:ln/>
        </p:spPr>
        <p:txBody>
          <a:bodyPr wrap="square" lIns="0" tIns="0" rIns="0" bIns="0" rtlCol="0" anchor="ctr"/>
          <a:lstStyle/>
          <a:p>
            <a:pPr algn="ctr" indent="0" marL="0">
              <a:buNone/>
            </a:pPr>
            <a:r>
              <a:rPr lang="en-US" sz="4600" b="1" dirty="0">
                <a:solidFill>
                  <a:srgbClr val="8A7340"/>
                </a:solidFill>
              </a:rPr>
              <a:t>61.5%</a:t>
            </a:r>
            <a:endParaRPr lang="en-US" sz="4600" dirty="0"/>
          </a:p>
        </p:txBody>
      </p:sp>
      <p:sp>
        <p:nvSpPr>
          <p:cNvPr id="4" name="Text 2"/>
          <p:cNvSpPr txBox="1"/>
          <p:nvPr/>
        </p:nvSpPr>
        <p:spPr>
          <a:xfrm>
            <a:off x="8686800" y="2999232"/>
            <a:ext cx="3017520" cy="640080"/>
          </a:xfrm>
          <a:prstGeom prst="rect">
            <a:avLst/>
          </a:prstGeom>
          <a:noFill/>
          <a:ln/>
        </p:spPr>
        <p:txBody>
          <a:bodyPr wrap="square" lIns="0" tIns="0" rIns="0" bIns="0" rtlCol="0" anchor="ctr"/>
          <a:lstStyle/>
          <a:p>
            <a:pPr algn="ctr" indent="0" marL="0">
              <a:lnSpc>
                <a:spcPct val="115000"/>
              </a:lnSpc>
              <a:buNone/>
            </a:pPr>
            <a:r>
              <a:rPr lang="en-US" sz="1150" dirty="0">
                <a:solidFill>
                  <a:srgbClr val="6E675A"/>
                </a:solidFill>
              </a:rPr>
              <a:t>of complaints routed</a:t>
            </a:r>
            <a:endParaRPr lang="en-US" sz="1150" dirty="0"/>
          </a:p>
          <a:p>
            <a:pPr algn="ctr" indent="0" marL="0">
              <a:lnSpc>
                <a:spcPct val="115000"/>
              </a:lnSpc>
              <a:buNone/>
            </a:pPr>
            <a:r>
              <a:rPr lang="en-US" sz="1150" dirty="0">
                <a:solidFill>
                  <a:srgbClr val="6E675A"/>
                </a:solidFill>
              </a:rPr>
              <a:t>without anyone reading them</a:t>
            </a:r>
            <a:endParaRPr lang="en-US" sz="1150" dirty="0"/>
          </a:p>
        </p:txBody>
      </p:sp>
      <p:sp>
        <p:nvSpPr>
          <p:cNvPr id="5" name="Text 3"/>
          <p:cNvSpPr txBox="1"/>
          <p:nvPr/>
        </p:nvSpPr>
        <p:spPr>
          <a:xfrm>
            <a:off x="685800" y="1737360"/>
            <a:ext cx="7315200" cy="274320"/>
          </a:xfrm>
          <a:prstGeom prst="rect">
            <a:avLst/>
          </a:prstGeom>
          <a:noFill/>
          <a:ln/>
        </p:spPr>
        <p:txBody>
          <a:bodyPr wrap="square" lIns="0" tIns="0" rIns="0" bIns="0" rtlCol="0" anchor="ctr"/>
          <a:lstStyle/>
          <a:p>
            <a:pPr algn="l" indent="0" marL="0">
              <a:buNone/>
            </a:pPr>
            <a:r>
              <a:rPr lang="en-US" sz="1300" b="1" spc="180" kern="0" dirty="0">
                <a:solidFill>
                  <a:srgbClr val="8A7340"/>
                </a:solidFill>
              </a:rPr>
              <a:t>MIDTERM REVIEW  ·  SESSION 6  ·  MSML641</a:t>
            </a:r>
            <a:endParaRPr lang="en-US" sz="1300" dirty="0"/>
          </a:p>
        </p:txBody>
      </p:sp>
      <p:sp>
        <p:nvSpPr>
          <p:cNvPr id="6" name="Text 0"/>
          <p:cNvSpPr/>
          <p:nvPr>
            <p:ph idx="100" type="title" hasCustomPrompt="1"/>
          </p:nvPr>
        </p:nvSpPr>
        <p:spPr>
          <a:xfrm>
            <a:off x="685800" y="2148840"/>
            <a:ext cx="8229600" cy="1280160"/>
          </a:xfrm>
          <a:prstGeom prst="rect">
            <a:avLst/>
          </a:prstGeom>
          <a:noFill/>
          <a:ln/>
        </p:spPr>
        <p:txBody>
          <a:bodyPr wrap="square" lIns="0" tIns="0" rIns="0" bIns="0" rtlCol="0"/>
          <a:lstStyle/>
          <a:p>
            <a:pPr algn="l" indent="0" marL="0">
              <a:buNone/>
            </a:pPr>
            <a:r>
              <a:rPr lang="en-US" sz="5600" b="1" dirty="0">
                <a:solidFill>
                  <a:schemeClr val="tx1"/>
                </a:solidFill>
              </a:rPr>
              <a:t>ClariCase</a:t>
            </a:r>
            <a:endParaRPr lang="en-US" sz="5600" dirty="0"/>
          </a:p>
        </p:txBody>
      </p:sp>
      <p:sp>
        <p:nvSpPr>
          <p:cNvPr id="7" name="Text 0"/>
          <p:cNvSpPr/>
          <p:nvPr>
            <p:ph idx="101" type="body" hasCustomPrompt="1"/>
          </p:nvPr>
        </p:nvSpPr>
        <p:spPr>
          <a:xfrm>
            <a:off x="685800" y="3474720"/>
            <a:ext cx="7680960" cy="777240"/>
          </a:xfrm>
          <a:prstGeom prst="rect">
            <a:avLst/>
          </a:prstGeom>
          <a:noFill/>
          <a:ln/>
        </p:spPr>
        <p:txBody>
          <a:bodyPr wrap="square" lIns="0" tIns="0" rIns="0" bIns="0" rtlCol="0"/>
          <a:lstStyle/>
          <a:p>
            <a:pPr algn="l" indent="0" marL="0">
              <a:buNone/>
            </a:pPr>
            <a:r>
              <a:rPr lang="en-US" sz="2000" dirty="0">
                <a:solidFill>
                  <a:schemeClr val="accent1"/>
                </a:solidFill>
              </a:rPr>
              <a:t>Consumer complaints, read once and sent to the team that owns them</a:t>
            </a:r>
            <a:endParaRPr lang="en-US" sz="2000" dirty="0"/>
          </a:p>
        </p:txBody>
      </p:sp>
      <p:sp>
        <p:nvSpPr>
          <p:cNvPr id="8" name="rule"/>
          <p:cNvSpPr/>
          <p:nvPr/>
        </p:nvSpPr>
        <p:spPr>
          <a:xfrm>
            <a:off x="685800" y="4754880"/>
            <a:ext cx="2926080" cy="0"/>
          </a:xfrm>
          <a:prstGeom prst="line">
            <a:avLst/>
          </a:prstGeom>
          <a:noFill/>
          <a:ln w="15875">
            <a:solidFill>
              <a:srgbClr val="DED6C2"/>
            </a:solidFill>
            <a:prstDash val="solid"/>
          </a:ln>
        </p:spPr>
      </p:sp>
      <p:sp>
        <p:nvSpPr>
          <p:cNvPr id="9" name="Text 7"/>
          <p:cNvSpPr txBox="1"/>
          <p:nvPr/>
        </p:nvSpPr>
        <p:spPr>
          <a:xfrm>
            <a:off x="685800" y="4983480"/>
            <a:ext cx="7863840" cy="292608"/>
          </a:xfrm>
          <a:prstGeom prst="rect">
            <a:avLst/>
          </a:prstGeom>
          <a:noFill/>
          <a:ln/>
        </p:spPr>
        <p:txBody>
          <a:bodyPr wrap="square" lIns="0" tIns="0" rIns="0" bIns="0" rtlCol="0" anchor="ctr"/>
          <a:lstStyle/>
          <a:p>
            <a:pPr algn="l" indent="0" marL="0">
              <a:buNone/>
            </a:pPr>
            <a:r>
              <a:rPr lang="en-US" sz="1400" dirty="0">
                <a:solidFill>
                  <a:srgbClr val="2E2B26"/>
                </a:solidFill>
              </a:rPr>
              <a:t>Chaitanya Bagul</a:t>
            </a:r>
            <a:pPr algn="l" indent="0" marL="0">
              <a:buNone/>
            </a:pPr>
            <a:r>
              <a:rPr lang="en-US" sz="1400" dirty="0">
                <a:solidFill>
                  <a:srgbClr val="A8935E"/>
                </a:solidFill>
              </a:rPr>
              <a:t>   ·   </a:t>
            </a:r>
            <a:pPr algn="l" indent="0" marL="0">
              <a:buNone/>
            </a:pPr>
            <a:r>
              <a:rPr lang="en-US" sz="1400" dirty="0">
                <a:solidFill>
                  <a:srgbClr val="2E2B26"/>
                </a:solidFill>
              </a:rPr>
              <a:t>Sukriti Srivastava</a:t>
            </a:r>
            <a:pPr algn="l" indent="0" marL="0">
              <a:buNone/>
            </a:pPr>
            <a:r>
              <a:rPr lang="en-US" sz="1400" dirty="0">
                <a:solidFill>
                  <a:srgbClr val="A8935E"/>
                </a:solidFill>
              </a:rPr>
              <a:t>   ·   </a:t>
            </a:r>
            <a:pPr algn="l" indent="0" marL="0">
              <a:buNone/>
            </a:pPr>
            <a:r>
              <a:rPr lang="en-US" sz="1400" dirty="0">
                <a:solidFill>
                  <a:srgbClr val="2E2B26"/>
                </a:solidFill>
              </a:rPr>
              <a:t>Salman Farcy</a:t>
            </a:r>
            <a:pPr algn="l" indent="0" marL="0">
              <a:buNone/>
            </a:pPr>
            <a:r>
              <a:rPr lang="en-US" sz="1400" dirty="0">
                <a:solidFill>
                  <a:srgbClr val="A8935E"/>
                </a:solidFill>
              </a:rPr>
              <a:t>   ·   </a:t>
            </a:r>
            <a:pPr algn="l" indent="0" marL="0">
              <a:buNone/>
            </a:pPr>
            <a:r>
              <a:rPr lang="en-US" sz="1400" dirty="0">
                <a:solidFill>
                  <a:srgbClr val="2E2B26"/>
                </a:solidFill>
              </a:rPr>
              <a:t>Sriramm S S</a:t>
            </a:r>
            <a:endParaRPr lang="en-US" sz="1400" dirty="0"/>
          </a:p>
        </p:txBody>
      </p:sp>
      <p:sp>
        <p:nvSpPr>
          <p:cNvPr id="10" name="Text 8"/>
          <p:cNvSpPr txBox="1"/>
          <p:nvPr/>
        </p:nvSpPr>
        <p:spPr>
          <a:xfrm>
            <a:off x="685800" y="5394960"/>
            <a:ext cx="7863840" cy="685800"/>
          </a:xfrm>
          <a:prstGeom prst="rect">
            <a:avLst/>
          </a:prstGeom>
          <a:noFill/>
          <a:ln/>
        </p:spPr>
        <p:txBody>
          <a:bodyPr wrap="square" lIns="0" tIns="0" rIns="0" bIns="0" rtlCol="0" anchor="ctr"/>
          <a:lstStyle/>
          <a:p>
            <a:pPr algn="l" indent="0" marL="0">
              <a:lnSpc>
                <a:spcPct val="130000"/>
              </a:lnSpc>
              <a:buNone/>
            </a:pPr>
            <a:r>
              <a:rPr lang="en-US" sz="1150" dirty="0">
                <a:solidFill>
                  <a:srgbClr val="6E675A"/>
                </a:solidFill>
              </a:rPr>
              <a:t>Live app  </a:t>
            </a:r>
            <a:pPr algn="l" indent="0" marL="0">
              <a:lnSpc>
                <a:spcPct val="130000"/>
              </a:lnSpc>
              <a:buNone/>
            </a:pPr>
            <a:r>
              <a:rPr lang="en-US" sz="1150" b="1" dirty="0">
                <a:solidFill>
                  <a:srgbClr val="8A7340"/>
                </a:solidFill>
              </a:rPr>
              <a:t>claricase-enmuypbz78oqjgiec98bhw.streamlit.app</a:t>
            </a:r>
            <a:endParaRPr lang="en-US" sz="1150" dirty="0"/>
          </a:p>
          <a:p>
            <a:pPr algn="l" indent="0" marL="0">
              <a:lnSpc>
                <a:spcPct val="130000"/>
              </a:lnSpc>
              <a:buNone/>
            </a:pPr>
            <a:r>
              <a:rPr lang="en-US" sz="1150" dirty="0">
                <a:solidFill>
                  <a:srgbClr val="6E675A"/>
                </a:solidFill>
              </a:rPr>
              <a:t>Code  </a:t>
            </a:r>
            <a:pPr algn="l" indent="0" marL="0">
              <a:lnSpc>
                <a:spcPct val="130000"/>
              </a:lnSpc>
              <a:buNone/>
            </a:pPr>
            <a:r>
              <a:rPr lang="en-US" sz="1150" b="1" dirty="0">
                <a:solidFill>
                  <a:srgbClr val="8A7340"/>
                </a:solidFill>
              </a:rPr>
              <a:t>github.com/farcypeer46/ClariCase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420624"/>
            <a:ext cx="6400800" cy="292608"/>
          </a:xfrm>
          <a:prstGeom prst="rect">
            <a:avLst/>
          </a:prstGeom>
          <a:noFill/>
          <a:ln/>
        </p:spPr>
        <p:txBody>
          <a:bodyPr wrap="square" lIns="0" tIns="0" rIns="0" bIns="0" rtlCol="0"/>
          <a:lstStyle/>
          <a:p>
            <a:pPr algn="l" indent="0" marL="0">
              <a:buNone/>
            </a:pPr>
            <a:r>
              <a:rPr lang="en-US" sz="1300" b="1" spc="180" kern="0" dirty="0">
                <a:solidFill>
                  <a:schemeClr val="accent1"/>
                </a:solidFill>
              </a:rPr>
              <a:t>Introduction</a:t>
            </a:r>
            <a:endParaRPr lang="en-US" sz="1300" dirty="0"/>
          </a:p>
        </p:txBody>
      </p:sp>
      <p:sp>
        <p:nvSpPr>
          <p:cNvPr id="3" name="Text 1"/>
          <p:cNvSpPr/>
          <p:nvPr>
            <p:ph idx="102" type="title" hasCustomPrompt="1"/>
          </p:nvPr>
        </p:nvSpPr>
        <p:spPr>
          <a:xfrm>
            <a:off x="685800" y="786384"/>
            <a:ext cx="10789920" cy="731520"/>
          </a:xfrm>
          <a:prstGeom prst="rect">
            <a:avLst/>
          </a:prstGeom>
          <a:noFill/>
          <a:ln/>
        </p:spPr>
        <p:txBody>
          <a:bodyPr wrap="square" lIns="0" tIns="0" rIns="0" bIns="0" rtlCol="0"/>
          <a:lstStyle/>
          <a:p>
            <a:pPr algn="l" indent="0" marL="0">
              <a:buNone/>
            </a:pPr>
            <a:r>
              <a:rPr lang="en-US" sz="3400" dirty="0">
                <a:solidFill>
                  <a:schemeClr val="tx1"/>
                </a:solidFill>
              </a:rPr>
              <a:t>Project Overview</a:t>
            </a:r>
            <a:endParaRPr lang="en-US" sz="3400" dirty="0"/>
          </a:p>
        </p:txBody>
      </p:sp>
      <p:pic>
        <p:nvPicPr>
          <p:cNvPr id="4" name="icon-problem" descr="preencoded.png">    </p:cNvPr>
          <p:cNvPicPr>
            <a:picLocks noChangeAspect="1"/>
          </p:cNvPicPr>
          <p:nvPr/>
        </p:nvPicPr>
        <p:blipFill>
          <a:blip r:embed="rId1"/>
          <a:stretch>
            <a:fillRect/>
          </a:stretch>
        </p:blipFill>
        <p:spPr>
          <a:xfrm>
            <a:off x="685800" y="1828800"/>
            <a:ext cx="713232" cy="713232"/>
          </a:xfrm>
          <a:prstGeom prst="rect">
            <a:avLst/>
          </a:prstGeom>
        </p:spPr>
      </p:pic>
      <p:sp>
        <p:nvSpPr>
          <p:cNvPr id="5" name="Text 2"/>
          <p:cNvSpPr txBox="1"/>
          <p:nvPr/>
        </p:nvSpPr>
        <p:spPr>
          <a:xfrm>
            <a:off x="685800" y="2788920"/>
            <a:ext cx="3200400" cy="365760"/>
          </a:xfrm>
          <a:prstGeom prst="rect">
            <a:avLst/>
          </a:prstGeom>
          <a:noFill/>
          <a:ln/>
        </p:spPr>
        <p:txBody>
          <a:bodyPr wrap="square" lIns="0" tIns="0" rIns="0" bIns="0" rtlCol="0" anchor="ctr"/>
          <a:lstStyle/>
          <a:p>
            <a:pPr algn="l" indent="0" marL="0">
              <a:buNone/>
            </a:pPr>
            <a:r>
              <a:rPr lang="en-US" sz="2200" dirty="0">
                <a:solidFill>
                  <a:srgbClr val="8A7340"/>
                </a:solidFill>
              </a:rPr>
              <a:t>Problem</a:t>
            </a:r>
            <a:endParaRPr lang="en-US" sz="2200" dirty="0"/>
          </a:p>
        </p:txBody>
      </p:sp>
      <p:sp>
        <p:nvSpPr>
          <p:cNvPr id="6" name="r0"/>
          <p:cNvSpPr/>
          <p:nvPr/>
        </p:nvSpPr>
        <p:spPr>
          <a:xfrm>
            <a:off x="685800" y="3273552"/>
            <a:ext cx="822960" cy="0"/>
          </a:xfrm>
          <a:prstGeom prst="line">
            <a:avLst/>
          </a:prstGeom>
          <a:noFill/>
          <a:ln w="19050">
            <a:solidFill>
              <a:srgbClr val="C4B58E"/>
            </a:solidFill>
            <a:prstDash val="solid"/>
          </a:ln>
        </p:spPr>
      </p:sp>
      <p:sp>
        <p:nvSpPr>
          <p:cNvPr id="7" name="Text 4"/>
          <p:cNvSpPr txBox="1"/>
          <p:nvPr/>
        </p:nvSpPr>
        <p:spPr>
          <a:xfrm>
            <a:off x="685800" y="3429000"/>
            <a:ext cx="3200400" cy="1737360"/>
          </a:xfrm>
          <a:prstGeom prst="rect">
            <a:avLst/>
          </a:prstGeom>
          <a:noFill/>
          <a:ln/>
        </p:spPr>
        <p:txBody>
          <a:bodyPr wrap="square" lIns="0" tIns="0" rIns="0" bIns="0" rtlCol="0" anchor="t"/>
          <a:lstStyle/>
          <a:p>
            <a:pPr algn="l" indent="0" marL="0">
              <a:lnSpc>
                <a:spcPct val="125000"/>
              </a:lnSpc>
              <a:buNone/>
            </a:pPr>
            <a:r>
              <a:rPr lang="en-US" sz="1450" dirty="0">
                <a:solidFill>
                  <a:srgbClr val="2E2B26"/>
                </a:solidFill>
              </a:rPr>
              <a:t>Over a million complaints are filed every year. Each one is read by a person just to decide which team it belongs to, then read again by that team to work out the fix.</a:t>
            </a:r>
            <a:endParaRPr lang="en-US" sz="1450" dirty="0"/>
          </a:p>
        </p:txBody>
      </p:sp>
      <p:pic>
        <p:nvPicPr>
          <p:cNvPr id="8" name="icon-solution" descr="preencoded.png">    </p:cNvPr>
          <p:cNvPicPr>
            <a:picLocks noChangeAspect="1"/>
          </p:cNvPicPr>
          <p:nvPr/>
        </p:nvPicPr>
        <p:blipFill>
          <a:blip r:embed="rId2"/>
          <a:stretch>
            <a:fillRect/>
          </a:stretch>
        </p:blipFill>
        <p:spPr>
          <a:xfrm>
            <a:off x="4709160" y="1828800"/>
            <a:ext cx="713232" cy="713232"/>
          </a:xfrm>
          <a:prstGeom prst="rect">
            <a:avLst/>
          </a:prstGeom>
        </p:spPr>
      </p:pic>
      <p:sp>
        <p:nvSpPr>
          <p:cNvPr id="9" name="Text 5"/>
          <p:cNvSpPr txBox="1"/>
          <p:nvPr/>
        </p:nvSpPr>
        <p:spPr>
          <a:xfrm>
            <a:off x="4709160" y="2788920"/>
            <a:ext cx="3200400" cy="365760"/>
          </a:xfrm>
          <a:prstGeom prst="rect">
            <a:avLst/>
          </a:prstGeom>
          <a:noFill/>
          <a:ln/>
        </p:spPr>
        <p:txBody>
          <a:bodyPr wrap="square" lIns="0" tIns="0" rIns="0" bIns="0" rtlCol="0" anchor="ctr"/>
          <a:lstStyle/>
          <a:p>
            <a:pPr algn="l" indent="0" marL="0">
              <a:buNone/>
            </a:pPr>
            <a:r>
              <a:rPr lang="en-US" sz="2200" dirty="0">
                <a:solidFill>
                  <a:srgbClr val="8A7340"/>
                </a:solidFill>
              </a:rPr>
              <a:t>Solution</a:t>
            </a:r>
            <a:endParaRPr lang="en-US" sz="2200" dirty="0"/>
          </a:p>
        </p:txBody>
      </p:sp>
      <p:sp>
        <p:nvSpPr>
          <p:cNvPr id="10" name="r1"/>
          <p:cNvSpPr/>
          <p:nvPr/>
        </p:nvSpPr>
        <p:spPr>
          <a:xfrm>
            <a:off x="4709160" y="3273552"/>
            <a:ext cx="822960" cy="0"/>
          </a:xfrm>
          <a:prstGeom prst="line">
            <a:avLst/>
          </a:prstGeom>
          <a:noFill/>
          <a:ln w="19050">
            <a:solidFill>
              <a:srgbClr val="C4B58E"/>
            </a:solidFill>
            <a:prstDash val="solid"/>
          </a:ln>
        </p:spPr>
      </p:sp>
      <p:sp>
        <p:nvSpPr>
          <p:cNvPr id="11" name="Text 7"/>
          <p:cNvSpPr txBox="1"/>
          <p:nvPr/>
        </p:nvSpPr>
        <p:spPr>
          <a:xfrm>
            <a:off x="4709160" y="3429000"/>
            <a:ext cx="3200400" cy="1737360"/>
          </a:xfrm>
          <a:prstGeom prst="rect">
            <a:avLst/>
          </a:prstGeom>
          <a:noFill/>
          <a:ln/>
        </p:spPr>
        <p:txBody>
          <a:bodyPr wrap="square" lIns="0" tIns="0" rIns="0" bIns="0" rtlCol="0" anchor="t"/>
          <a:lstStyle/>
          <a:p>
            <a:pPr algn="l" indent="0" marL="0">
              <a:lnSpc>
                <a:spcPct val="125000"/>
              </a:lnSpc>
              <a:buNone/>
            </a:pPr>
            <a:r>
              <a:rPr lang="en-US" sz="1450" dirty="0">
                <a:solidFill>
                  <a:srgbClr val="2E2B26"/>
                </a:solidFill>
              </a:rPr>
              <a:t>The consumer writes the complaint in plain words. ClariCase reads it and sends it straight to the right team, with a tracking ID back. Only the unclear ones reach a person.</a:t>
            </a:r>
            <a:endParaRPr lang="en-US" sz="1450" dirty="0"/>
          </a:p>
        </p:txBody>
      </p:sp>
      <p:pic>
        <p:nvPicPr>
          <p:cNvPr id="12" name="icon-matters" descr="preencoded.png">    </p:cNvPr>
          <p:cNvPicPr>
            <a:picLocks noChangeAspect="1"/>
          </p:cNvPicPr>
          <p:nvPr/>
        </p:nvPicPr>
        <p:blipFill>
          <a:blip r:embed="rId3"/>
          <a:stretch>
            <a:fillRect/>
          </a:stretch>
        </p:blipFill>
        <p:spPr>
          <a:xfrm>
            <a:off x="8732520" y="1828800"/>
            <a:ext cx="713232" cy="713232"/>
          </a:xfrm>
          <a:prstGeom prst="rect">
            <a:avLst/>
          </a:prstGeom>
        </p:spPr>
      </p:pic>
      <p:sp>
        <p:nvSpPr>
          <p:cNvPr id="13" name="Text 8"/>
          <p:cNvSpPr txBox="1"/>
          <p:nvPr/>
        </p:nvSpPr>
        <p:spPr>
          <a:xfrm>
            <a:off x="8732520" y="2788920"/>
            <a:ext cx="3200400" cy="365760"/>
          </a:xfrm>
          <a:prstGeom prst="rect">
            <a:avLst/>
          </a:prstGeom>
          <a:noFill/>
          <a:ln/>
        </p:spPr>
        <p:txBody>
          <a:bodyPr wrap="square" lIns="0" tIns="0" rIns="0" bIns="0" rtlCol="0" anchor="ctr"/>
          <a:lstStyle/>
          <a:p>
            <a:pPr algn="l" indent="0" marL="0">
              <a:buNone/>
            </a:pPr>
            <a:r>
              <a:rPr lang="en-US" sz="2200" dirty="0">
                <a:solidFill>
                  <a:srgbClr val="8A7340"/>
                </a:solidFill>
              </a:rPr>
              <a:t>Why It Matters</a:t>
            </a:r>
            <a:endParaRPr lang="en-US" sz="2200" dirty="0"/>
          </a:p>
        </p:txBody>
      </p:sp>
      <p:sp>
        <p:nvSpPr>
          <p:cNvPr id="14" name="r2"/>
          <p:cNvSpPr/>
          <p:nvPr/>
        </p:nvSpPr>
        <p:spPr>
          <a:xfrm>
            <a:off x="8732520" y="3273552"/>
            <a:ext cx="822960" cy="0"/>
          </a:xfrm>
          <a:prstGeom prst="line">
            <a:avLst/>
          </a:prstGeom>
          <a:noFill/>
          <a:ln w="19050">
            <a:solidFill>
              <a:srgbClr val="C4B58E"/>
            </a:solidFill>
            <a:prstDash val="solid"/>
          </a:ln>
        </p:spPr>
      </p:sp>
      <p:sp>
        <p:nvSpPr>
          <p:cNvPr id="15" name="Text 10"/>
          <p:cNvSpPr txBox="1"/>
          <p:nvPr/>
        </p:nvSpPr>
        <p:spPr>
          <a:xfrm>
            <a:off x="8732520" y="3429000"/>
            <a:ext cx="3200400" cy="1737360"/>
          </a:xfrm>
          <a:prstGeom prst="rect">
            <a:avLst/>
          </a:prstGeom>
          <a:noFill/>
          <a:ln/>
        </p:spPr>
        <p:txBody>
          <a:bodyPr wrap="square" lIns="0" tIns="0" rIns="0" bIns="0" rtlCol="0" anchor="t"/>
          <a:lstStyle/>
          <a:p>
            <a:pPr algn="l" indent="0" marL="0">
              <a:lnSpc>
                <a:spcPct val="125000"/>
              </a:lnSpc>
              <a:buNone/>
            </a:pPr>
            <a:r>
              <a:rPr lang="en-US" sz="1450" dirty="0">
                <a:solidFill>
                  <a:srgbClr val="2E2B26"/>
                </a:solidFill>
              </a:rPr>
              <a:t>Every misrouted complaint is someone waiting longer on a problem with their money. The same triage step exists in retail, telecom and insurance.</a:t>
            </a:r>
            <a:endParaRPr lang="en-US" sz="1450" dirty="0"/>
          </a:p>
        </p:txBody>
      </p:sp>
      <p:sp>
        <p:nvSpPr>
          <p:cNvPr id="16" name="overview-note"/>
          <p:cNvSpPr/>
          <p:nvPr/>
        </p:nvSpPr>
        <p:spPr>
          <a:xfrm>
            <a:off x="685800" y="5440680"/>
            <a:ext cx="10817352" cy="749808"/>
          </a:xfrm>
          <a:prstGeom prst="roundRect">
            <a:avLst>
              <a:gd name="adj" fmla="val 9756"/>
            </a:avLst>
          </a:prstGeom>
          <a:solidFill>
            <a:schemeClr val="bg2"/>
          </a:solidFill>
          <a:ln w="12700">
            <a:solidFill>
              <a:srgbClr val="DED6C2"/>
            </a:solidFill>
            <a:prstDash val="solid"/>
          </a:ln>
        </p:spPr>
      </p:sp>
      <p:sp>
        <p:nvSpPr>
          <p:cNvPr id="17" name="Text 12"/>
          <p:cNvSpPr txBox="1"/>
          <p:nvPr/>
        </p:nvSpPr>
        <p:spPr>
          <a:xfrm>
            <a:off x="960120" y="5504688"/>
            <a:ext cx="10241280" cy="621792"/>
          </a:xfrm>
          <a:prstGeom prst="rect">
            <a:avLst/>
          </a:prstGeom>
          <a:noFill/>
          <a:ln/>
        </p:spPr>
        <p:txBody>
          <a:bodyPr wrap="square" lIns="0" tIns="0" rIns="0" bIns="0" rtlCol="0" anchor="ctr"/>
          <a:lstStyle/>
          <a:p>
            <a:pPr algn="l" indent="0" marL="0">
              <a:buNone/>
            </a:pPr>
            <a:r>
              <a:rPr lang="en-US" sz="1400" b="1" dirty="0">
                <a:solidFill>
                  <a:srgbClr val="8A7340"/>
                </a:solidFill>
              </a:rPr>
              <a:t>In one sentence:  </a:t>
            </a:r>
            <a:pPr algn="l" indent="0" marL="0">
              <a:buNone/>
            </a:pPr>
            <a:r>
              <a:rPr lang="en-US" sz="1400" dirty="0">
                <a:solidFill>
                  <a:srgbClr val="2E2B26"/>
                </a:solidFill>
              </a:rPr>
              <a:t>we are deleting the middle read — the one that exists only to answer a question a model can answer.</a:t>
            </a:r>
            <a:endParaRPr lang="en-US" sz="1400" dirty="0"/>
          </a:p>
        </p:txBody>
      </p:sp>
      <p:sp>
        <p:nvSpPr>
          <p:cNvPr id="19" name="Text 1"/>
          <p:cNvSpPr/>
          <p:nvPr>
            <p:ph idx="103" type="body" hasCustomPrompt="1"/>
          </p:nvPr>
        </p:nvSpPr>
        <p:spPr>
          <a:xfrm>
            <a:off x="11185855" y="6400800"/>
            <a:ext cx="320040" cy="274320"/>
          </a:xfrm>
          <a:prstGeom prst="rect">
            <a:avLst/>
          </a:prstGeom>
          <a:noFill/>
          <a:ln/>
        </p:spPr>
        <p:txBody>
          <a:bodyPr wrap="square" lIns="0" tIns="0" rIns="0" bIns="0" rtlCol="0"/>
          <a:lstStyle/>
          <a:p>
            <a:pPr algn="r" indent="0" marL="0">
              <a:buNone/>
            </a:pPr>
            <a:endParaRPr lang="en-US" sz="1000" dirty="0"/>
          </a:p>
        </p:txBody>
      </p:sp>
      <p:sp>
        <p:nvSpPr>
          <p:cNvPr id="25" name="Slide Number Placeholder 0"/>
          <p:cNvSpPr>
            <a:spLocks noGrp="1"/>
          </p:cNvSpPr>
          <p:nvPr>
            <p:ph type="sldNum" sz="quarter" idx="4294967295"/>
          </p:nvPr>
        </p:nvSpPr>
        <p:spPr>
          <a:xfrm>
            <a:off x="11185855" y="6400800"/>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75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420624"/>
            <a:ext cx="6400800" cy="292608"/>
          </a:xfrm>
          <a:prstGeom prst="rect">
            <a:avLst/>
          </a:prstGeom>
          <a:noFill/>
          <a:ln/>
        </p:spPr>
        <p:txBody>
          <a:bodyPr wrap="square" lIns="0" tIns="0" rIns="0" bIns="0" rtlCol="0"/>
          <a:lstStyle/>
          <a:p>
            <a:pPr algn="l" indent="0" marL="0">
              <a:buNone/>
            </a:pPr>
            <a:r>
              <a:rPr lang="en-US" sz="1300" b="1" spc="180" kern="0" dirty="0">
                <a:solidFill>
                  <a:schemeClr val="accent1"/>
                </a:solidFill>
              </a:rPr>
              <a:t>What we built</a:t>
            </a:r>
            <a:endParaRPr lang="en-US" sz="1300" dirty="0"/>
          </a:p>
        </p:txBody>
      </p:sp>
      <p:sp>
        <p:nvSpPr>
          <p:cNvPr id="3" name="Text 1"/>
          <p:cNvSpPr/>
          <p:nvPr>
            <p:ph idx="102" type="title" hasCustomPrompt="1"/>
          </p:nvPr>
        </p:nvSpPr>
        <p:spPr>
          <a:xfrm>
            <a:off x="685800" y="786384"/>
            <a:ext cx="10789920" cy="731520"/>
          </a:xfrm>
          <a:prstGeom prst="rect">
            <a:avLst/>
          </a:prstGeom>
          <a:noFill/>
          <a:ln/>
        </p:spPr>
        <p:txBody>
          <a:bodyPr wrap="square" lIns="0" tIns="0" rIns="0" bIns="0" rtlCol="0"/>
          <a:lstStyle/>
          <a:p>
            <a:pPr algn="l" indent="0" marL="0">
              <a:buNone/>
            </a:pPr>
            <a:r>
              <a:rPr lang="en-US" sz="3400" dirty="0">
                <a:solidFill>
                  <a:schemeClr val="tx1"/>
                </a:solidFill>
              </a:rPr>
              <a:t>Build Process</a:t>
            </a:r>
            <a:endParaRPr lang="en-US" sz="3400" dirty="0"/>
          </a:p>
        </p:txBody>
      </p:sp>
      <p:sp>
        <p:nvSpPr>
          <p:cNvPr id="4" name="axis"/>
          <p:cNvSpPr/>
          <p:nvPr/>
        </p:nvSpPr>
        <p:spPr>
          <a:xfrm>
            <a:off x="685800" y="3657600"/>
            <a:ext cx="10698480" cy="0"/>
          </a:xfrm>
          <a:prstGeom prst="line">
            <a:avLst/>
          </a:prstGeom>
          <a:noFill/>
          <a:ln w="28575">
            <a:solidFill>
              <a:srgbClr val="8A7340"/>
            </a:solidFill>
            <a:prstDash val="solid"/>
            <a:tailEnd type="triangle"/>
          </a:ln>
        </p:spPr>
      </p:sp>
      <p:sp>
        <p:nvSpPr>
          <p:cNvPr id="5" name="stem0"/>
          <p:cNvSpPr/>
          <p:nvPr/>
        </p:nvSpPr>
        <p:spPr>
          <a:xfrm>
            <a:off x="868680" y="1783080"/>
            <a:ext cx="0" cy="1874520"/>
          </a:xfrm>
          <a:prstGeom prst="line">
            <a:avLst/>
          </a:prstGeom>
          <a:noFill/>
          <a:ln w="12700">
            <a:solidFill>
              <a:srgbClr val="A8935E"/>
            </a:solidFill>
            <a:prstDash val="solid"/>
          </a:ln>
        </p:spPr>
      </p:sp>
      <p:sp>
        <p:nvSpPr>
          <p:cNvPr id="6" name="pt0"/>
          <p:cNvSpPr/>
          <p:nvPr/>
        </p:nvSpPr>
        <p:spPr>
          <a:xfrm>
            <a:off x="809244" y="3598164"/>
            <a:ext cx="118872" cy="118872"/>
          </a:xfrm>
          <a:prstGeom prst="ellipse">
            <a:avLst/>
          </a:prstGeom>
          <a:solidFill>
            <a:srgbClr val="8A7340"/>
          </a:solidFill>
          <a:ln w="12700">
            <a:solidFill>
              <a:srgbClr val="8A7340"/>
            </a:solidFill>
            <a:prstDash val="solid"/>
          </a:ln>
        </p:spPr>
      </p:sp>
      <p:sp>
        <p:nvSpPr>
          <p:cNvPr id="7" name="Text 5"/>
          <p:cNvSpPr txBox="1"/>
          <p:nvPr/>
        </p:nvSpPr>
        <p:spPr>
          <a:xfrm>
            <a:off x="996696" y="1737360"/>
            <a:ext cx="2286000" cy="310896"/>
          </a:xfrm>
          <a:prstGeom prst="rect">
            <a:avLst/>
          </a:prstGeom>
          <a:noFill/>
          <a:ln/>
        </p:spPr>
        <p:txBody>
          <a:bodyPr wrap="square" lIns="0" tIns="0" rIns="0" bIns="0" rtlCol="0" anchor="ctr"/>
          <a:lstStyle/>
          <a:p>
            <a:pPr algn="l" indent="0" marL="0">
              <a:buNone/>
            </a:pPr>
            <a:r>
              <a:rPr lang="en-US" sz="1700" b="1" dirty="0">
                <a:solidFill>
                  <a:srgbClr val="8A7340"/>
                </a:solidFill>
              </a:rPr>
              <a:t>Data Collection</a:t>
            </a:r>
            <a:endParaRPr lang="en-US" sz="1700" dirty="0"/>
          </a:p>
        </p:txBody>
      </p:sp>
      <p:sp>
        <p:nvSpPr>
          <p:cNvPr id="8" name="Text 6"/>
          <p:cNvSpPr txBox="1"/>
          <p:nvPr/>
        </p:nvSpPr>
        <p:spPr>
          <a:xfrm>
            <a:off x="996696" y="2066544"/>
            <a:ext cx="2286000" cy="1600200"/>
          </a:xfrm>
          <a:prstGeom prst="rect">
            <a:avLst/>
          </a:prstGeom>
          <a:noFill/>
          <a:ln/>
        </p:spPr>
        <p:txBody>
          <a:bodyPr wrap="square" lIns="0" tIns="0" rIns="0" bIns="0" rtlCol="0" anchor="t"/>
          <a:lstStyle/>
          <a:p>
            <a:pPr algn="l" indent="0" marL="0">
              <a:lnSpc>
                <a:spcPct val="115000"/>
              </a:lnSpc>
              <a:buNone/>
            </a:pPr>
            <a:r>
              <a:rPr lang="en-US" sz="1250" dirty="0">
                <a:solidFill>
                  <a:srgbClr val="2E2B26"/>
                </a:solidFill>
              </a:rPr>
              <a:t>Built the dataset from the public CFPB complaint archives for 2024-25, checked against their published hashes.</a:t>
            </a:r>
            <a:endParaRPr lang="en-US" sz="1250" dirty="0"/>
          </a:p>
        </p:txBody>
      </p:sp>
      <p:sp>
        <p:nvSpPr>
          <p:cNvPr id="9" name="stem1"/>
          <p:cNvSpPr/>
          <p:nvPr/>
        </p:nvSpPr>
        <p:spPr>
          <a:xfrm>
            <a:off x="3017520" y="3657600"/>
            <a:ext cx="0" cy="960120"/>
          </a:xfrm>
          <a:prstGeom prst="line">
            <a:avLst/>
          </a:prstGeom>
          <a:noFill/>
          <a:ln w="12700">
            <a:solidFill>
              <a:srgbClr val="A8935E"/>
            </a:solidFill>
            <a:prstDash val="solid"/>
          </a:ln>
        </p:spPr>
      </p:sp>
      <p:sp>
        <p:nvSpPr>
          <p:cNvPr id="10" name="pt1"/>
          <p:cNvSpPr/>
          <p:nvPr/>
        </p:nvSpPr>
        <p:spPr>
          <a:xfrm>
            <a:off x="2958084" y="3598164"/>
            <a:ext cx="118872" cy="118872"/>
          </a:xfrm>
          <a:prstGeom prst="ellipse">
            <a:avLst/>
          </a:prstGeom>
          <a:solidFill>
            <a:srgbClr val="8A7340"/>
          </a:solidFill>
          <a:ln w="12700">
            <a:solidFill>
              <a:srgbClr val="8A7340"/>
            </a:solidFill>
            <a:prstDash val="solid"/>
          </a:ln>
        </p:spPr>
      </p:sp>
      <p:sp>
        <p:nvSpPr>
          <p:cNvPr id="11" name="Text 9"/>
          <p:cNvSpPr txBox="1"/>
          <p:nvPr/>
        </p:nvSpPr>
        <p:spPr>
          <a:xfrm>
            <a:off x="3145536" y="4617720"/>
            <a:ext cx="2286000" cy="310896"/>
          </a:xfrm>
          <a:prstGeom prst="rect">
            <a:avLst/>
          </a:prstGeom>
          <a:noFill/>
          <a:ln/>
        </p:spPr>
        <p:txBody>
          <a:bodyPr wrap="square" lIns="0" tIns="0" rIns="0" bIns="0" rtlCol="0" anchor="ctr"/>
          <a:lstStyle/>
          <a:p>
            <a:pPr algn="l" indent="0" marL="0">
              <a:buNone/>
            </a:pPr>
            <a:r>
              <a:rPr lang="en-US" sz="1700" b="1" dirty="0">
                <a:solidFill>
                  <a:srgbClr val="8A7340"/>
                </a:solidFill>
              </a:rPr>
              <a:t>Corpus Construction</a:t>
            </a:r>
            <a:endParaRPr lang="en-US" sz="1700" dirty="0"/>
          </a:p>
        </p:txBody>
      </p:sp>
      <p:sp>
        <p:nvSpPr>
          <p:cNvPr id="12" name="Text 10"/>
          <p:cNvSpPr txBox="1"/>
          <p:nvPr/>
        </p:nvSpPr>
        <p:spPr>
          <a:xfrm>
            <a:off x="3145536" y="4946904"/>
            <a:ext cx="2286000" cy="1600200"/>
          </a:xfrm>
          <a:prstGeom prst="rect">
            <a:avLst/>
          </a:prstGeom>
          <a:noFill/>
          <a:ln/>
        </p:spPr>
        <p:txBody>
          <a:bodyPr wrap="square" lIns="0" tIns="0" rIns="0" bIns="0" rtlCol="0" anchor="t"/>
          <a:lstStyle/>
          <a:p>
            <a:pPr algn="l" indent="0" marL="0">
              <a:lnSpc>
                <a:spcPct val="115000"/>
              </a:lnSpc>
              <a:buNone/>
            </a:pPr>
            <a:r>
              <a:rPr lang="en-US" sz="1250" dirty="0">
                <a:solidFill>
                  <a:srgbClr val="2E2B26"/>
                </a:solidFill>
              </a:rPr>
              <a:t>Removed duplicates and complaints whose identical text carried conflicting labels, leaving 1,044,615 usable records.</a:t>
            </a:r>
            <a:endParaRPr lang="en-US" sz="1250" dirty="0"/>
          </a:p>
        </p:txBody>
      </p:sp>
      <p:sp>
        <p:nvSpPr>
          <p:cNvPr id="13" name="stem2"/>
          <p:cNvSpPr/>
          <p:nvPr/>
        </p:nvSpPr>
        <p:spPr>
          <a:xfrm>
            <a:off x="5257800" y="1783080"/>
            <a:ext cx="0" cy="1874520"/>
          </a:xfrm>
          <a:prstGeom prst="line">
            <a:avLst/>
          </a:prstGeom>
          <a:noFill/>
          <a:ln w="12700">
            <a:solidFill>
              <a:srgbClr val="A8935E"/>
            </a:solidFill>
            <a:prstDash val="solid"/>
          </a:ln>
        </p:spPr>
      </p:sp>
      <p:sp>
        <p:nvSpPr>
          <p:cNvPr id="14" name="pt2"/>
          <p:cNvSpPr/>
          <p:nvPr/>
        </p:nvSpPr>
        <p:spPr>
          <a:xfrm>
            <a:off x="5198364" y="3598164"/>
            <a:ext cx="118872" cy="118872"/>
          </a:xfrm>
          <a:prstGeom prst="ellipse">
            <a:avLst/>
          </a:prstGeom>
          <a:solidFill>
            <a:srgbClr val="8A7340"/>
          </a:solidFill>
          <a:ln w="12700">
            <a:solidFill>
              <a:srgbClr val="8A7340"/>
            </a:solidFill>
            <a:prstDash val="solid"/>
          </a:ln>
        </p:spPr>
      </p:sp>
      <p:sp>
        <p:nvSpPr>
          <p:cNvPr id="15" name="Text 13"/>
          <p:cNvSpPr txBox="1"/>
          <p:nvPr/>
        </p:nvSpPr>
        <p:spPr>
          <a:xfrm>
            <a:off x="5385816" y="1737360"/>
            <a:ext cx="2286000" cy="310896"/>
          </a:xfrm>
          <a:prstGeom prst="rect">
            <a:avLst/>
          </a:prstGeom>
          <a:noFill/>
          <a:ln/>
        </p:spPr>
        <p:txBody>
          <a:bodyPr wrap="square" lIns="0" tIns="0" rIns="0" bIns="0" rtlCol="0" anchor="ctr"/>
          <a:lstStyle/>
          <a:p>
            <a:pPr algn="l" indent="0" marL="0">
              <a:buNone/>
            </a:pPr>
            <a:r>
              <a:rPr lang="en-US" sz="1700" b="1" dirty="0">
                <a:solidFill>
                  <a:srgbClr val="8A7340"/>
                </a:solidFill>
              </a:rPr>
              <a:t>Baseline Models</a:t>
            </a:r>
            <a:endParaRPr lang="en-US" sz="1700" dirty="0"/>
          </a:p>
        </p:txBody>
      </p:sp>
      <p:sp>
        <p:nvSpPr>
          <p:cNvPr id="16" name="Text 14"/>
          <p:cNvSpPr txBox="1"/>
          <p:nvPr/>
        </p:nvSpPr>
        <p:spPr>
          <a:xfrm>
            <a:off x="5385816" y="2066544"/>
            <a:ext cx="2286000" cy="1600200"/>
          </a:xfrm>
          <a:prstGeom prst="rect">
            <a:avLst/>
          </a:prstGeom>
          <a:noFill/>
          <a:ln/>
        </p:spPr>
        <p:txBody>
          <a:bodyPr wrap="square" lIns="0" tIns="0" rIns="0" bIns="0" rtlCol="0" anchor="t"/>
          <a:lstStyle/>
          <a:p>
            <a:pPr algn="l" indent="0" marL="0">
              <a:lnSpc>
                <a:spcPct val="115000"/>
              </a:lnSpc>
              <a:buNone/>
            </a:pPr>
            <a:r>
              <a:rPr lang="en-US" sz="1250" dirty="0">
                <a:solidFill>
                  <a:srgbClr val="2E2B26"/>
                </a:solidFill>
              </a:rPr>
              <a:t>One bank first, then a team router across all 3,801 companies — TF-IDF with Naive Bayes. Automatic routing went from 26% to 47%.</a:t>
            </a:r>
            <a:endParaRPr lang="en-US" sz="1250" dirty="0"/>
          </a:p>
        </p:txBody>
      </p:sp>
      <p:sp>
        <p:nvSpPr>
          <p:cNvPr id="17" name="stem3"/>
          <p:cNvSpPr/>
          <p:nvPr/>
        </p:nvSpPr>
        <p:spPr>
          <a:xfrm>
            <a:off x="7406640" y="3657600"/>
            <a:ext cx="0" cy="960120"/>
          </a:xfrm>
          <a:prstGeom prst="line">
            <a:avLst/>
          </a:prstGeom>
          <a:noFill/>
          <a:ln w="12700">
            <a:solidFill>
              <a:srgbClr val="A8935E"/>
            </a:solidFill>
            <a:prstDash val="solid"/>
          </a:ln>
        </p:spPr>
      </p:sp>
      <p:sp>
        <p:nvSpPr>
          <p:cNvPr id="18" name="pt3"/>
          <p:cNvSpPr/>
          <p:nvPr/>
        </p:nvSpPr>
        <p:spPr>
          <a:xfrm>
            <a:off x="7347204" y="3598164"/>
            <a:ext cx="118872" cy="118872"/>
          </a:xfrm>
          <a:prstGeom prst="ellipse">
            <a:avLst/>
          </a:prstGeom>
          <a:solidFill>
            <a:srgbClr val="8A7340"/>
          </a:solidFill>
          <a:ln w="12700">
            <a:solidFill>
              <a:srgbClr val="8A7340"/>
            </a:solidFill>
            <a:prstDash val="solid"/>
          </a:ln>
        </p:spPr>
      </p:sp>
      <p:sp>
        <p:nvSpPr>
          <p:cNvPr id="19" name="Text 17"/>
          <p:cNvSpPr txBox="1"/>
          <p:nvPr/>
        </p:nvSpPr>
        <p:spPr>
          <a:xfrm>
            <a:off x="7534656" y="4617720"/>
            <a:ext cx="2286000" cy="310896"/>
          </a:xfrm>
          <a:prstGeom prst="rect">
            <a:avLst/>
          </a:prstGeom>
          <a:noFill/>
          <a:ln/>
        </p:spPr>
        <p:txBody>
          <a:bodyPr wrap="square" lIns="0" tIns="0" rIns="0" bIns="0" rtlCol="0" anchor="ctr"/>
          <a:lstStyle/>
          <a:p>
            <a:pPr algn="l" indent="0" marL="0">
              <a:buNone/>
            </a:pPr>
            <a:r>
              <a:rPr lang="en-US" sz="1700" b="1" dirty="0">
                <a:solidFill>
                  <a:srgbClr val="8A7340"/>
                </a:solidFill>
              </a:rPr>
              <a:t>Smarter Model</a:t>
            </a:r>
            <a:endParaRPr lang="en-US" sz="1700" dirty="0"/>
          </a:p>
        </p:txBody>
      </p:sp>
      <p:sp>
        <p:nvSpPr>
          <p:cNvPr id="20" name="Text 18"/>
          <p:cNvSpPr txBox="1"/>
          <p:nvPr/>
        </p:nvSpPr>
        <p:spPr>
          <a:xfrm>
            <a:off x="7534656" y="4946904"/>
            <a:ext cx="2286000" cy="1600200"/>
          </a:xfrm>
          <a:prstGeom prst="rect">
            <a:avLst/>
          </a:prstGeom>
          <a:noFill/>
          <a:ln/>
        </p:spPr>
        <p:txBody>
          <a:bodyPr wrap="square" lIns="0" tIns="0" rIns="0" bIns="0" rtlCol="0" anchor="t"/>
          <a:lstStyle/>
          <a:p>
            <a:pPr algn="l" indent="0" marL="0">
              <a:lnSpc>
                <a:spcPct val="115000"/>
              </a:lnSpc>
              <a:buNone/>
            </a:pPr>
            <a:r>
              <a:rPr lang="en-US" sz="1250" dirty="0">
                <a:solidFill>
                  <a:srgbClr val="2E2B26"/>
                </a:solidFill>
              </a:rPr>
              <a:t>TF-IDF with a linear SVM: picks the team first, then the issue inside it, with a confidence bar set per team. Automatic routing reached 61.5%.</a:t>
            </a:r>
            <a:endParaRPr lang="en-US" sz="1250" dirty="0"/>
          </a:p>
        </p:txBody>
      </p:sp>
      <p:sp>
        <p:nvSpPr>
          <p:cNvPr id="21" name="stem4"/>
          <p:cNvSpPr/>
          <p:nvPr/>
        </p:nvSpPr>
        <p:spPr>
          <a:xfrm>
            <a:off x="9464040" y="1783080"/>
            <a:ext cx="0" cy="1874520"/>
          </a:xfrm>
          <a:prstGeom prst="line">
            <a:avLst/>
          </a:prstGeom>
          <a:noFill/>
          <a:ln w="12700">
            <a:solidFill>
              <a:srgbClr val="A8935E"/>
            </a:solidFill>
            <a:prstDash val="solid"/>
          </a:ln>
        </p:spPr>
      </p:sp>
      <p:sp>
        <p:nvSpPr>
          <p:cNvPr id="22" name="pt4"/>
          <p:cNvSpPr/>
          <p:nvPr/>
        </p:nvSpPr>
        <p:spPr>
          <a:xfrm>
            <a:off x="9404604" y="3598164"/>
            <a:ext cx="118872" cy="118872"/>
          </a:xfrm>
          <a:prstGeom prst="ellipse">
            <a:avLst/>
          </a:prstGeom>
          <a:solidFill>
            <a:srgbClr val="8A7340"/>
          </a:solidFill>
          <a:ln w="12700">
            <a:solidFill>
              <a:srgbClr val="8A7340"/>
            </a:solidFill>
            <a:prstDash val="solid"/>
          </a:ln>
        </p:spPr>
      </p:sp>
      <p:sp>
        <p:nvSpPr>
          <p:cNvPr id="23" name="Text 21"/>
          <p:cNvSpPr txBox="1"/>
          <p:nvPr/>
        </p:nvSpPr>
        <p:spPr>
          <a:xfrm>
            <a:off x="9592056" y="1737360"/>
            <a:ext cx="1965960" cy="310896"/>
          </a:xfrm>
          <a:prstGeom prst="rect">
            <a:avLst/>
          </a:prstGeom>
          <a:noFill/>
          <a:ln/>
        </p:spPr>
        <p:txBody>
          <a:bodyPr wrap="square" lIns="0" tIns="0" rIns="0" bIns="0" rtlCol="0" anchor="ctr"/>
          <a:lstStyle/>
          <a:p>
            <a:pPr algn="l" indent="0" marL="0">
              <a:buNone/>
            </a:pPr>
            <a:r>
              <a:rPr lang="en-US" sz="1700" b="1" dirty="0">
                <a:solidFill>
                  <a:srgbClr val="8A7340"/>
                </a:solidFill>
              </a:rPr>
              <a:t>Live Deployment</a:t>
            </a:r>
            <a:endParaRPr lang="en-US" sz="1700" dirty="0"/>
          </a:p>
        </p:txBody>
      </p:sp>
      <p:sp>
        <p:nvSpPr>
          <p:cNvPr id="24" name="Text 22"/>
          <p:cNvSpPr txBox="1"/>
          <p:nvPr/>
        </p:nvSpPr>
        <p:spPr>
          <a:xfrm>
            <a:off x="9592056" y="2066544"/>
            <a:ext cx="1965960" cy="1600200"/>
          </a:xfrm>
          <a:prstGeom prst="rect">
            <a:avLst/>
          </a:prstGeom>
          <a:noFill/>
          <a:ln/>
        </p:spPr>
        <p:txBody>
          <a:bodyPr wrap="square" lIns="0" tIns="0" rIns="0" bIns="0" rtlCol="0" anchor="t"/>
          <a:lstStyle/>
          <a:p>
            <a:pPr algn="l" indent="0" marL="0">
              <a:lnSpc>
                <a:spcPct val="115000"/>
              </a:lnSpc>
              <a:buNone/>
            </a:pPr>
            <a:r>
              <a:rPr lang="en-US" sz="1250" dirty="0">
                <a:solidFill>
                  <a:srgbClr val="2E2B26"/>
                </a:solidFill>
              </a:rPr>
              <a:t>A working app where people write what happened instead of picking a category.</a:t>
            </a:r>
            <a:endParaRPr lang="en-US" sz="1250" dirty="0"/>
          </a:p>
        </p:txBody>
      </p:sp>
      <p:sp>
        <p:nvSpPr>
          <p:cNvPr id="25" name="Text 23"/>
          <p:cNvSpPr txBox="1"/>
          <p:nvPr/>
        </p:nvSpPr>
        <p:spPr>
          <a:xfrm>
            <a:off x="685800" y="6199632"/>
            <a:ext cx="10698480" cy="310896"/>
          </a:xfrm>
          <a:prstGeom prst="rect">
            <a:avLst/>
          </a:prstGeom>
          <a:noFill/>
          <a:ln/>
        </p:spPr>
        <p:txBody>
          <a:bodyPr wrap="square" lIns="0" tIns="0" rIns="0" bIns="0" rtlCol="0" anchor="ctr"/>
          <a:lstStyle/>
          <a:p>
            <a:pPr algn="l" indent="0" marL="0">
              <a:buNone/>
            </a:pPr>
            <a:r>
              <a:rPr lang="en-US" sz="1250" i="1" dirty="0">
                <a:solidFill>
                  <a:srgbClr val="6E675A"/>
                </a:solidFill>
              </a:rPr>
              <a:t>Running today: the app serves the earlier router. The smarter model is trained and measured, waiting on one integration step.</a:t>
            </a:r>
            <a:endParaRPr lang="en-US" sz="1250" dirty="0"/>
          </a:p>
        </p:txBody>
      </p:sp>
      <p:sp>
        <p:nvSpPr>
          <p:cNvPr id="27" name="Text 1"/>
          <p:cNvSpPr/>
          <p:nvPr>
            <p:ph idx="103" type="body" hasCustomPrompt="1"/>
          </p:nvPr>
        </p:nvSpPr>
        <p:spPr>
          <a:xfrm>
            <a:off x="11185855" y="6400800"/>
            <a:ext cx="320040" cy="274320"/>
          </a:xfrm>
          <a:prstGeom prst="rect">
            <a:avLst/>
          </a:prstGeom>
          <a:noFill/>
          <a:ln/>
        </p:spPr>
        <p:txBody>
          <a:bodyPr wrap="square" lIns="0" tIns="0" rIns="0" bIns="0" rtlCol="0"/>
          <a:lstStyle/>
          <a:p>
            <a:pPr algn="r" indent="0" marL="0">
              <a:buNone/>
            </a:pPr>
            <a:endParaRPr lang="en-US" sz="1000" dirty="0"/>
          </a:p>
        </p:txBody>
      </p:sp>
      <p:sp>
        <p:nvSpPr>
          <p:cNvPr id="25" name="Slide Number Placeholder 0"/>
          <p:cNvSpPr>
            <a:spLocks noGrp="1"/>
          </p:cNvSpPr>
          <p:nvPr>
            <p:ph type="sldNum" sz="quarter" idx="4294967295"/>
          </p:nvPr>
        </p:nvSpPr>
        <p:spPr>
          <a:xfrm>
            <a:off x="11185855" y="6400800"/>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75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420624"/>
            <a:ext cx="6400800" cy="292608"/>
          </a:xfrm>
          <a:prstGeom prst="rect">
            <a:avLst/>
          </a:prstGeom>
          <a:noFill/>
          <a:ln/>
        </p:spPr>
        <p:txBody>
          <a:bodyPr wrap="square" lIns="0" tIns="0" rIns="0" bIns="0" rtlCol="0"/>
          <a:lstStyle/>
          <a:p>
            <a:pPr algn="l" indent="0" marL="0">
              <a:buNone/>
            </a:pPr>
            <a:r>
              <a:rPr lang="en-US" sz="1300" b="1" spc="180" kern="0" dirty="0">
                <a:solidFill>
                  <a:schemeClr val="accent1"/>
                </a:solidFill>
              </a:rPr>
              <a:t>Evidence</a:t>
            </a:r>
            <a:endParaRPr lang="en-US" sz="1300" dirty="0"/>
          </a:p>
        </p:txBody>
      </p:sp>
      <p:sp>
        <p:nvSpPr>
          <p:cNvPr id="3" name="Text 1"/>
          <p:cNvSpPr/>
          <p:nvPr>
            <p:ph idx="102" type="title" hasCustomPrompt="1"/>
          </p:nvPr>
        </p:nvSpPr>
        <p:spPr>
          <a:xfrm>
            <a:off x="685800" y="786384"/>
            <a:ext cx="10789920" cy="731520"/>
          </a:xfrm>
          <a:prstGeom prst="rect">
            <a:avLst/>
          </a:prstGeom>
          <a:noFill/>
          <a:ln/>
        </p:spPr>
        <p:txBody>
          <a:bodyPr wrap="square" lIns="0" tIns="0" rIns="0" bIns="0" rtlCol="0"/>
          <a:lstStyle/>
          <a:p>
            <a:pPr algn="l" indent="0" marL="0">
              <a:buNone/>
            </a:pPr>
            <a:r>
              <a:rPr lang="en-US" sz="3400" dirty="0">
                <a:solidFill>
                  <a:schemeClr val="tx1"/>
                </a:solidFill>
              </a:rPr>
              <a:t>Measured on 109,834 complaints the model had never seen</a:t>
            </a:r>
            <a:endParaRPr lang="en-US" sz="3400" dirty="0"/>
          </a:p>
        </p:txBody>
      </p:sp>
      <p:sp>
        <p:nvSpPr>
          <p:cNvPr id="4" name="tile0"/>
          <p:cNvSpPr/>
          <p:nvPr/>
        </p:nvSpPr>
        <p:spPr>
          <a:xfrm>
            <a:off x="685800" y="1691640"/>
            <a:ext cx="2587752" cy="1645920"/>
          </a:xfrm>
          <a:prstGeom prst="roundRect">
            <a:avLst>
              <a:gd name="adj" fmla="val 4444"/>
            </a:avLst>
          </a:prstGeom>
          <a:solidFill>
            <a:schemeClr val="bg2"/>
          </a:solidFill>
          <a:ln w="12700">
            <a:solidFill>
              <a:srgbClr val="DED6C2"/>
            </a:solidFill>
            <a:prstDash val="solid"/>
          </a:ln>
        </p:spPr>
      </p:sp>
      <p:sp>
        <p:nvSpPr>
          <p:cNvPr id="5" name="Text 3"/>
          <p:cNvSpPr txBox="1"/>
          <p:nvPr/>
        </p:nvSpPr>
        <p:spPr>
          <a:xfrm>
            <a:off x="886968" y="1828800"/>
            <a:ext cx="2185416" cy="566928"/>
          </a:xfrm>
          <a:prstGeom prst="rect">
            <a:avLst/>
          </a:prstGeom>
          <a:noFill/>
          <a:ln/>
        </p:spPr>
        <p:txBody>
          <a:bodyPr wrap="square" lIns="0" tIns="0" rIns="0" bIns="0" rtlCol="0" anchor="ctr"/>
          <a:lstStyle/>
          <a:p>
            <a:pPr algn="l" indent="0" marL="0">
              <a:buNone/>
            </a:pPr>
            <a:r>
              <a:rPr lang="en-US" sz="3200" b="1" dirty="0">
                <a:solidFill>
                  <a:srgbClr val="8A7340"/>
                </a:solidFill>
              </a:rPr>
              <a:t>61.5%</a:t>
            </a:r>
            <a:endParaRPr lang="en-US" sz="3200" dirty="0"/>
          </a:p>
        </p:txBody>
      </p:sp>
      <p:sp>
        <p:nvSpPr>
          <p:cNvPr id="6" name="Text 4"/>
          <p:cNvSpPr txBox="1"/>
          <p:nvPr/>
        </p:nvSpPr>
        <p:spPr>
          <a:xfrm>
            <a:off x="886968" y="2432304"/>
            <a:ext cx="2185416" cy="274320"/>
          </a:xfrm>
          <a:prstGeom prst="rect">
            <a:avLst/>
          </a:prstGeom>
          <a:noFill/>
          <a:ln/>
        </p:spPr>
        <p:txBody>
          <a:bodyPr wrap="square" lIns="0" tIns="0" rIns="0" bIns="0" rtlCol="0" anchor="ctr"/>
          <a:lstStyle/>
          <a:p>
            <a:pPr algn="l" indent="0" marL="0">
              <a:buNone/>
            </a:pPr>
            <a:r>
              <a:rPr lang="en-US" sz="1300" b="1" dirty="0">
                <a:solidFill>
                  <a:srgbClr val="2E2B26"/>
                </a:solidFill>
              </a:rPr>
              <a:t>routed automatically</a:t>
            </a:r>
            <a:endParaRPr lang="en-US" sz="1300" dirty="0"/>
          </a:p>
        </p:txBody>
      </p:sp>
      <p:sp>
        <p:nvSpPr>
          <p:cNvPr id="7" name="Text 5"/>
          <p:cNvSpPr txBox="1"/>
          <p:nvPr/>
        </p:nvSpPr>
        <p:spPr>
          <a:xfrm>
            <a:off x="886968" y="2706624"/>
            <a:ext cx="2185416" cy="475488"/>
          </a:xfrm>
          <a:prstGeom prst="rect">
            <a:avLst/>
          </a:prstGeom>
          <a:noFill/>
          <a:ln/>
        </p:spPr>
        <p:txBody>
          <a:bodyPr wrap="square" lIns="0" tIns="0" rIns="0" bIns="0" rtlCol="0" anchor="ctr"/>
          <a:lstStyle/>
          <a:p>
            <a:pPr algn="l" indent="0" marL="0">
              <a:lnSpc>
                <a:spcPct val="110000"/>
              </a:lnSpc>
              <a:buNone/>
            </a:pPr>
            <a:r>
              <a:rPr lang="en-US" sz="1050" dirty="0">
                <a:solidFill>
                  <a:srgbClr val="6E675A"/>
                </a:solidFill>
              </a:rPr>
              <a:t>and 95 out of 100 land on the right team</a:t>
            </a:r>
            <a:endParaRPr lang="en-US" sz="1050" dirty="0"/>
          </a:p>
        </p:txBody>
      </p:sp>
      <p:sp>
        <p:nvSpPr>
          <p:cNvPr id="8" name="tile1"/>
          <p:cNvSpPr/>
          <p:nvPr/>
        </p:nvSpPr>
        <p:spPr>
          <a:xfrm>
            <a:off x="3429000" y="1691640"/>
            <a:ext cx="2587752" cy="1645920"/>
          </a:xfrm>
          <a:prstGeom prst="roundRect">
            <a:avLst>
              <a:gd name="adj" fmla="val 4444"/>
            </a:avLst>
          </a:prstGeom>
          <a:solidFill>
            <a:schemeClr val="bg2"/>
          </a:solidFill>
          <a:ln w="12700">
            <a:solidFill>
              <a:srgbClr val="DED6C2"/>
            </a:solidFill>
            <a:prstDash val="solid"/>
          </a:ln>
        </p:spPr>
      </p:sp>
      <p:sp>
        <p:nvSpPr>
          <p:cNvPr id="9" name="Text 7"/>
          <p:cNvSpPr txBox="1"/>
          <p:nvPr/>
        </p:nvSpPr>
        <p:spPr>
          <a:xfrm>
            <a:off x="3630168" y="1828800"/>
            <a:ext cx="2185416" cy="566928"/>
          </a:xfrm>
          <a:prstGeom prst="rect">
            <a:avLst/>
          </a:prstGeom>
          <a:noFill/>
          <a:ln/>
        </p:spPr>
        <p:txBody>
          <a:bodyPr wrap="square" lIns="0" tIns="0" rIns="0" bIns="0" rtlCol="0" anchor="ctr"/>
          <a:lstStyle/>
          <a:p>
            <a:pPr algn="l" indent="0" marL="0">
              <a:buNone/>
            </a:pPr>
            <a:r>
              <a:rPr lang="en-US" sz="3200" b="1" dirty="0">
                <a:solidFill>
                  <a:srgbClr val="2E2B26"/>
                </a:solidFill>
              </a:rPr>
              <a:t>84%</a:t>
            </a:r>
            <a:endParaRPr lang="en-US" sz="3200" dirty="0"/>
          </a:p>
        </p:txBody>
      </p:sp>
      <p:sp>
        <p:nvSpPr>
          <p:cNvPr id="10" name="Text 8"/>
          <p:cNvSpPr txBox="1"/>
          <p:nvPr/>
        </p:nvSpPr>
        <p:spPr>
          <a:xfrm>
            <a:off x="3630168" y="2432304"/>
            <a:ext cx="2185416" cy="274320"/>
          </a:xfrm>
          <a:prstGeom prst="rect">
            <a:avLst/>
          </a:prstGeom>
          <a:noFill/>
          <a:ln/>
        </p:spPr>
        <p:txBody>
          <a:bodyPr wrap="square" lIns="0" tIns="0" rIns="0" bIns="0" rtlCol="0" anchor="ctr"/>
          <a:lstStyle/>
          <a:p>
            <a:pPr algn="l" indent="0" marL="0">
              <a:buNone/>
            </a:pPr>
            <a:r>
              <a:rPr lang="en-US" sz="1300" b="1" dirty="0">
                <a:solidFill>
                  <a:srgbClr val="2E2B26"/>
                </a:solidFill>
              </a:rPr>
              <a:t>sent to the right team</a:t>
            </a:r>
            <a:endParaRPr lang="en-US" sz="1300" dirty="0"/>
          </a:p>
        </p:txBody>
      </p:sp>
      <p:sp>
        <p:nvSpPr>
          <p:cNvPr id="11" name="Text 9"/>
          <p:cNvSpPr txBox="1"/>
          <p:nvPr/>
        </p:nvSpPr>
        <p:spPr>
          <a:xfrm>
            <a:off x="3630168" y="2706624"/>
            <a:ext cx="2185416" cy="475488"/>
          </a:xfrm>
          <a:prstGeom prst="rect">
            <a:avLst/>
          </a:prstGeom>
          <a:noFill/>
          <a:ln/>
        </p:spPr>
        <p:txBody>
          <a:bodyPr wrap="square" lIns="0" tIns="0" rIns="0" bIns="0" rtlCol="0" anchor="ctr"/>
          <a:lstStyle/>
          <a:p>
            <a:pPr algn="l" indent="0" marL="0">
              <a:lnSpc>
                <a:spcPct val="110000"/>
              </a:lnSpc>
              <a:buNone/>
            </a:pPr>
            <a:r>
              <a:rPr lang="en-US" sz="1050" dirty="0">
                <a:solidFill>
                  <a:srgbClr val="6E675A"/>
                </a:solidFill>
              </a:rPr>
              <a:t>up from 80% with the earlier model</a:t>
            </a:r>
            <a:endParaRPr lang="en-US" sz="1050" dirty="0"/>
          </a:p>
        </p:txBody>
      </p:sp>
      <p:sp>
        <p:nvSpPr>
          <p:cNvPr id="12" name="tile2"/>
          <p:cNvSpPr/>
          <p:nvPr/>
        </p:nvSpPr>
        <p:spPr>
          <a:xfrm>
            <a:off x="6172200" y="1691640"/>
            <a:ext cx="2587752" cy="1645920"/>
          </a:xfrm>
          <a:prstGeom prst="roundRect">
            <a:avLst>
              <a:gd name="adj" fmla="val 4444"/>
            </a:avLst>
          </a:prstGeom>
          <a:solidFill>
            <a:schemeClr val="bg2"/>
          </a:solidFill>
          <a:ln w="12700">
            <a:solidFill>
              <a:srgbClr val="DED6C2"/>
            </a:solidFill>
            <a:prstDash val="solid"/>
          </a:ln>
        </p:spPr>
      </p:sp>
      <p:sp>
        <p:nvSpPr>
          <p:cNvPr id="13" name="Text 11"/>
          <p:cNvSpPr txBox="1"/>
          <p:nvPr/>
        </p:nvSpPr>
        <p:spPr>
          <a:xfrm>
            <a:off x="6373368" y="1828800"/>
            <a:ext cx="2185416" cy="566928"/>
          </a:xfrm>
          <a:prstGeom prst="rect">
            <a:avLst/>
          </a:prstGeom>
          <a:noFill/>
          <a:ln/>
        </p:spPr>
        <p:txBody>
          <a:bodyPr wrap="square" lIns="0" tIns="0" rIns="0" bIns="0" rtlCol="0" anchor="ctr"/>
          <a:lstStyle/>
          <a:p>
            <a:pPr algn="l" indent="0" marL="0">
              <a:buNone/>
            </a:pPr>
            <a:r>
              <a:rPr lang="en-US" sz="3200" b="1" dirty="0">
                <a:solidFill>
                  <a:srgbClr val="5F6B52"/>
                </a:solidFill>
              </a:rPr>
              <a:t>11 of 11</a:t>
            </a:r>
            <a:endParaRPr lang="en-US" sz="3200" dirty="0"/>
          </a:p>
        </p:txBody>
      </p:sp>
      <p:sp>
        <p:nvSpPr>
          <p:cNvPr id="14" name="Text 12"/>
          <p:cNvSpPr txBox="1"/>
          <p:nvPr/>
        </p:nvSpPr>
        <p:spPr>
          <a:xfrm>
            <a:off x="6373368" y="2432304"/>
            <a:ext cx="2185416" cy="274320"/>
          </a:xfrm>
          <a:prstGeom prst="rect">
            <a:avLst/>
          </a:prstGeom>
          <a:noFill/>
          <a:ln/>
        </p:spPr>
        <p:txBody>
          <a:bodyPr wrap="square" lIns="0" tIns="0" rIns="0" bIns="0" rtlCol="0" anchor="ctr"/>
          <a:lstStyle/>
          <a:p>
            <a:pPr algn="l" indent="0" marL="0">
              <a:buNone/>
            </a:pPr>
            <a:r>
              <a:rPr lang="en-US" sz="1300" b="1" dirty="0">
                <a:solidFill>
                  <a:srgbClr val="2E2B26"/>
                </a:solidFill>
              </a:rPr>
              <a:t>teams meet the quality bar</a:t>
            </a:r>
            <a:endParaRPr lang="en-US" sz="1300" dirty="0"/>
          </a:p>
        </p:txBody>
      </p:sp>
      <p:sp>
        <p:nvSpPr>
          <p:cNvPr id="15" name="Text 13"/>
          <p:cNvSpPr txBox="1"/>
          <p:nvPr/>
        </p:nvSpPr>
        <p:spPr>
          <a:xfrm>
            <a:off x="6373368" y="2706624"/>
            <a:ext cx="2185416" cy="475488"/>
          </a:xfrm>
          <a:prstGeom prst="rect">
            <a:avLst/>
          </a:prstGeom>
          <a:noFill/>
          <a:ln/>
        </p:spPr>
        <p:txBody>
          <a:bodyPr wrap="square" lIns="0" tIns="0" rIns="0" bIns="0" rtlCol="0" anchor="ctr"/>
          <a:lstStyle/>
          <a:p>
            <a:pPr algn="l" indent="0" marL="0">
              <a:lnSpc>
                <a:spcPct val="110000"/>
              </a:lnSpc>
              <a:buNone/>
            </a:pPr>
            <a:r>
              <a:rPr lang="en-US" sz="1050" dirty="0">
                <a:solidFill>
                  <a:srgbClr val="6E675A"/>
                </a:solidFill>
              </a:rPr>
              <a:t>no team falls below the accuracy floor</a:t>
            </a:r>
            <a:endParaRPr lang="en-US" sz="1050" dirty="0"/>
          </a:p>
        </p:txBody>
      </p:sp>
      <p:sp>
        <p:nvSpPr>
          <p:cNvPr id="16" name="tile3"/>
          <p:cNvSpPr/>
          <p:nvPr/>
        </p:nvSpPr>
        <p:spPr>
          <a:xfrm>
            <a:off x="8915400" y="1691640"/>
            <a:ext cx="2587752" cy="1645920"/>
          </a:xfrm>
          <a:prstGeom prst="roundRect">
            <a:avLst>
              <a:gd name="adj" fmla="val 4444"/>
            </a:avLst>
          </a:prstGeom>
          <a:solidFill>
            <a:schemeClr val="bg2"/>
          </a:solidFill>
          <a:ln w="12700">
            <a:solidFill>
              <a:srgbClr val="DED6C2"/>
            </a:solidFill>
            <a:prstDash val="solid"/>
          </a:ln>
        </p:spPr>
      </p:sp>
      <p:sp>
        <p:nvSpPr>
          <p:cNvPr id="17" name="Text 15"/>
          <p:cNvSpPr txBox="1"/>
          <p:nvPr/>
        </p:nvSpPr>
        <p:spPr>
          <a:xfrm>
            <a:off x="9116568" y="1828800"/>
            <a:ext cx="2185416" cy="566928"/>
          </a:xfrm>
          <a:prstGeom prst="rect">
            <a:avLst/>
          </a:prstGeom>
          <a:noFill/>
          <a:ln/>
        </p:spPr>
        <p:txBody>
          <a:bodyPr wrap="square" lIns="0" tIns="0" rIns="0" bIns="0" rtlCol="0" anchor="ctr"/>
          <a:lstStyle/>
          <a:p>
            <a:pPr algn="l" indent="0" marL="0">
              <a:buNone/>
            </a:pPr>
            <a:r>
              <a:rPr lang="en-US" sz="3200" b="1" dirty="0">
                <a:solidFill>
                  <a:srgbClr val="A8935E"/>
                </a:solidFill>
              </a:rPr>
              <a:t>Holds up</a:t>
            </a:r>
            <a:endParaRPr lang="en-US" sz="3200" dirty="0"/>
          </a:p>
        </p:txBody>
      </p:sp>
      <p:sp>
        <p:nvSpPr>
          <p:cNvPr id="18" name="Text 16"/>
          <p:cNvSpPr txBox="1"/>
          <p:nvPr/>
        </p:nvSpPr>
        <p:spPr>
          <a:xfrm>
            <a:off x="9116568" y="2432304"/>
            <a:ext cx="2185416" cy="274320"/>
          </a:xfrm>
          <a:prstGeom prst="rect">
            <a:avLst/>
          </a:prstGeom>
          <a:noFill/>
          <a:ln/>
        </p:spPr>
        <p:txBody>
          <a:bodyPr wrap="square" lIns="0" tIns="0" rIns="0" bIns="0" rtlCol="0" anchor="ctr"/>
          <a:lstStyle/>
          <a:p>
            <a:pPr algn="l" indent="0" marL="0">
              <a:buNone/>
            </a:pPr>
            <a:r>
              <a:rPr lang="en-US" sz="1300" b="1" dirty="0">
                <a:solidFill>
                  <a:srgbClr val="2E2B26"/>
                </a:solidFill>
              </a:rPr>
              <a:t>on newer 2026 complaints</a:t>
            </a:r>
            <a:endParaRPr lang="en-US" sz="1300" dirty="0"/>
          </a:p>
        </p:txBody>
      </p:sp>
      <p:sp>
        <p:nvSpPr>
          <p:cNvPr id="19" name="Text 17"/>
          <p:cNvSpPr txBox="1"/>
          <p:nvPr/>
        </p:nvSpPr>
        <p:spPr>
          <a:xfrm>
            <a:off x="9116568" y="2706624"/>
            <a:ext cx="2185416" cy="475488"/>
          </a:xfrm>
          <a:prstGeom prst="rect">
            <a:avLst/>
          </a:prstGeom>
          <a:noFill/>
          <a:ln/>
        </p:spPr>
        <p:txBody>
          <a:bodyPr wrap="square" lIns="0" tIns="0" rIns="0" bIns="0" rtlCol="0" anchor="ctr"/>
          <a:lstStyle/>
          <a:p>
            <a:pPr algn="l" indent="0" marL="0">
              <a:lnSpc>
                <a:spcPct val="110000"/>
              </a:lnSpc>
              <a:buNone/>
            </a:pPr>
            <a:r>
              <a:rPr lang="en-US" sz="1050" dirty="0">
                <a:solidFill>
                  <a:srgbClr val="6E675A"/>
                </a:solidFill>
              </a:rPr>
              <a:t>the gain survives a time gap, not just the test set</a:t>
            </a:r>
            <a:endParaRPr lang="en-US" sz="1050" dirty="0"/>
          </a:p>
        </p:txBody>
      </p:sp>
      <p:sp>
        <p:nvSpPr>
          <p:cNvPr id="20" name="Text 18"/>
          <p:cNvSpPr txBox="1"/>
          <p:nvPr/>
        </p:nvSpPr>
        <p:spPr>
          <a:xfrm>
            <a:off x="685800" y="3611880"/>
            <a:ext cx="5486400" cy="292608"/>
          </a:xfrm>
          <a:prstGeom prst="rect">
            <a:avLst/>
          </a:prstGeom>
          <a:noFill/>
          <a:ln/>
        </p:spPr>
        <p:txBody>
          <a:bodyPr wrap="square" lIns="0" tIns="0" rIns="0" bIns="0" rtlCol="0" anchor="ctr"/>
          <a:lstStyle/>
          <a:p>
            <a:pPr algn="l" indent="0" marL="0">
              <a:buNone/>
            </a:pPr>
            <a:r>
              <a:rPr lang="en-US" sz="1500" b="1" dirty="0">
                <a:solidFill>
                  <a:srgbClr val="8A7340"/>
                </a:solidFill>
              </a:rPr>
              <a:t>How much of the queue handles itself</a:t>
            </a:r>
            <a:endParaRPr lang="en-US" sz="1500" dirty="0"/>
          </a:p>
        </p:txBody>
      </p:sp>
      <p:graphicFrame>
        <p:nvGraphicFramePr>
          <p:cNvPr id="21" name="coverage" descr=""/>
          <p:cNvGraphicFramePr/>
          <p:nvPr/>
        </p:nvGraphicFramePr>
        <p:xfrm>
          <a:off x="594360" y="3931920"/>
          <a:ext cx="5577840" cy="2286000"/>
        </p:xfrm>
        <a:graphic xmlns:a="http://schemas.openxmlformats.org/drawingml/2006/main">
          <a:graphicData uri="http://schemas.openxmlformats.org/drawingml/2006/chart">
            <c:chart xmlns:c="http://schemas.openxmlformats.org/drawingml/2006/chart" r:id="rId1"/>
          </a:graphicData>
        </a:graphic>
      </p:graphicFrame>
      <p:sp>
        <p:nvSpPr>
          <p:cNvPr id="22" name="caveats"/>
          <p:cNvSpPr/>
          <p:nvPr/>
        </p:nvSpPr>
        <p:spPr>
          <a:xfrm>
            <a:off x="6492240" y="3611880"/>
            <a:ext cx="5010912" cy="2606040"/>
          </a:xfrm>
          <a:prstGeom prst="roundRect">
            <a:avLst>
              <a:gd name="adj" fmla="val 2807"/>
            </a:avLst>
          </a:prstGeom>
          <a:solidFill>
            <a:schemeClr val="bg2"/>
          </a:solidFill>
          <a:ln w="12700">
            <a:solidFill>
              <a:srgbClr val="DED6C2"/>
            </a:solidFill>
            <a:prstDash val="solid"/>
          </a:ln>
        </p:spPr>
      </p:sp>
      <p:sp>
        <p:nvSpPr>
          <p:cNvPr id="23" name="Text 20"/>
          <p:cNvSpPr txBox="1"/>
          <p:nvPr/>
        </p:nvSpPr>
        <p:spPr>
          <a:xfrm>
            <a:off x="6748272" y="3767328"/>
            <a:ext cx="4480560" cy="292608"/>
          </a:xfrm>
          <a:prstGeom prst="rect">
            <a:avLst/>
          </a:prstGeom>
          <a:noFill/>
          <a:ln/>
        </p:spPr>
        <p:txBody>
          <a:bodyPr wrap="square" lIns="0" tIns="0" rIns="0" bIns="0" rtlCol="0" anchor="ctr"/>
          <a:lstStyle/>
          <a:p>
            <a:pPr algn="l" indent="0" marL="0">
              <a:buNone/>
            </a:pPr>
            <a:r>
              <a:rPr lang="en-US" sz="1500" b="1" dirty="0">
                <a:solidFill>
                  <a:srgbClr val="B0653C"/>
                </a:solidFill>
              </a:rPr>
              <a:t>What we are not claiming yet</a:t>
            </a:r>
            <a:endParaRPr lang="en-US" sz="1500" dirty="0"/>
          </a:p>
        </p:txBody>
      </p:sp>
      <p:sp>
        <p:nvSpPr>
          <p:cNvPr id="24" name="Text 21"/>
          <p:cNvSpPr txBox="1"/>
          <p:nvPr/>
        </p:nvSpPr>
        <p:spPr>
          <a:xfrm>
            <a:off x="6748272" y="4114800"/>
            <a:ext cx="4480560" cy="237744"/>
          </a:xfrm>
          <a:prstGeom prst="rect">
            <a:avLst/>
          </a:prstGeom>
          <a:noFill/>
          <a:ln/>
        </p:spPr>
        <p:txBody>
          <a:bodyPr wrap="square" lIns="0" tIns="0" rIns="0" bIns="0" rtlCol="0" anchor="ctr"/>
          <a:lstStyle/>
          <a:p>
            <a:pPr algn="l" indent="0" marL="0">
              <a:buNone/>
            </a:pPr>
            <a:r>
              <a:rPr lang="en-US" sz="1300" b="1" dirty="0">
                <a:solidFill>
                  <a:srgbClr val="2E2B26"/>
                </a:solidFill>
              </a:rPr>
              <a:t>Naming the exact issue is still weak</a:t>
            </a:r>
            <a:endParaRPr lang="en-US" sz="1300" dirty="0"/>
          </a:p>
        </p:txBody>
      </p:sp>
      <p:sp>
        <p:nvSpPr>
          <p:cNvPr id="25" name="Text 22"/>
          <p:cNvSpPr txBox="1"/>
          <p:nvPr/>
        </p:nvSpPr>
        <p:spPr>
          <a:xfrm>
            <a:off x="6748272" y="4352544"/>
            <a:ext cx="4480560" cy="438912"/>
          </a:xfrm>
          <a:prstGeom prst="rect">
            <a:avLst/>
          </a:prstGeom>
          <a:noFill/>
          <a:ln/>
        </p:spPr>
        <p:txBody>
          <a:bodyPr wrap="square" lIns="0" tIns="0" rIns="0" bIns="0" rtlCol="0" anchor="ctr"/>
          <a:lstStyle/>
          <a:p>
            <a:pPr algn="l" indent="0" marL="0">
              <a:lnSpc>
                <a:spcPct val="110000"/>
              </a:lnSpc>
              <a:buNone/>
            </a:pPr>
            <a:r>
              <a:rPr lang="en-US" sz="1100" dirty="0">
                <a:solidFill>
                  <a:srgbClr val="6E675A"/>
                </a:solidFill>
              </a:rPr>
              <a:t>Getting the team right is solid; naming which of 73 issues it is, is right about half the time.</a:t>
            </a:r>
            <a:endParaRPr lang="en-US" sz="1100" dirty="0"/>
          </a:p>
        </p:txBody>
      </p:sp>
      <p:sp>
        <p:nvSpPr>
          <p:cNvPr id="26" name="Text 23"/>
          <p:cNvSpPr txBox="1"/>
          <p:nvPr/>
        </p:nvSpPr>
        <p:spPr>
          <a:xfrm>
            <a:off x="6748272" y="4828032"/>
            <a:ext cx="4480560" cy="237744"/>
          </a:xfrm>
          <a:prstGeom prst="rect">
            <a:avLst/>
          </a:prstGeom>
          <a:noFill/>
          <a:ln/>
        </p:spPr>
        <p:txBody>
          <a:bodyPr wrap="square" lIns="0" tIns="0" rIns="0" bIns="0" rtlCol="0" anchor="ctr"/>
          <a:lstStyle/>
          <a:p>
            <a:pPr algn="l" indent="0" marL="0">
              <a:buNone/>
            </a:pPr>
            <a:r>
              <a:rPr lang="en-US" sz="1300" b="1" dirty="0">
                <a:solidFill>
                  <a:srgbClr val="2E2B26"/>
                </a:solidFill>
              </a:rPr>
              <a:t>Both right together: 56%</a:t>
            </a:r>
            <a:endParaRPr lang="en-US" sz="1300" dirty="0"/>
          </a:p>
        </p:txBody>
      </p:sp>
      <p:sp>
        <p:nvSpPr>
          <p:cNvPr id="27" name="Text 24"/>
          <p:cNvSpPr txBox="1"/>
          <p:nvPr/>
        </p:nvSpPr>
        <p:spPr>
          <a:xfrm>
            <a:off x="6748272" y="5065776"/>
            <a:ext cx="4480560" cy="438912"/>
          </a:xfrm>
          <a:prstGeom prst="rect">
            <a:avLst/>
          </a:prstGeom>
          <a:noFill/>
          <a:ln/>
        </p:spPr>
        <p:txBody>
          <a:bodyPr wrap="square" lIns="0" tIns="0" rIns="0" bIns="0" rtlCol="0" anchor="ctr"/>
          <a:lstStyle/>
          <a:p>
            <a:pPr algn="l" indent="0" marL="0">
              <a:lnSpc>
                <a:spcPct val="110000"/>
              </a:lnSpc>
              <a:buNone/>
            </a:pPr>
            <a:r>
              <a:rPr lang="en-US" sz="1100" dirty="0">
                <a:solidFill>
                  <a:srgbClr val="6E675A"/>
                </a:solidFill>
              </a:rPr>
              <a:t>Team and issue correct on the same complaint — the number the next phase depends on.</a:t>
            </a:r>
            <a:endParaRPr lang="en-US" sz="1100" dirty="0"/>
          </a:p>
        </p:txBody>
      </p:sp>
      <p:sp>
        <p:nvSpPr>
          <p:cNvPr id="28" name="Text 25"/>
          <p:cNvSpPr txBox="1"/>
          <p:nvPr/>
        </p:nvSpPr>
        <p:spPr>
          <a:xfrm>
            <a:off x="6748272" y="5541264"/>
            <a:ext cx="4480560" cy="237744"/>
          </a:xfrm>
          <a:prstGeom prst="rect">
            <a:avLst/>
          </a:prstGeom>
          <a:noFill/>
          <a:ln/>
        </p:spPr>
        <p:txBody>
          <a:bodyPr wrap="square" lIns="0" tIns="0" rIns="0" bIns="0" rtlCol="0" anchor="ctr"/>
          <a:lstStyle/>
          <a:p>
            <a:pPr algn="l" indent="0" marL="0">
              <a:buNone/>
            </a:pPr>
            <a:r>
              <a:rPr lang="en-US" sz="1300" b="1" dirty="0">
                <a:solidFill>
                  <a:srgbClr val="2E2B26"/>
                </a:solidFill>
              </a:rPr>
              <a:t>The quality bar drifts</a:t>
            </a:r>
            <a:endParaRPr lang="en-US" sz="1300" dirty="0"/>
          </a:p>
        </p:txBody>
      </p:sp>
      <p:sp>
        <p:nvSpPr>
          <p:cNvPr id="29" name="Text 26"/>
          <p:cNvSpPr txBox="1"/>
          <p:nvPr/>
        </p:nvSpPr>
        <p:spPr>
          <a:xfrm>
            <a:off x="6748272" y="5779008"/>
            <a:ext cx="4480560" cy="438912"/>
          </a:xfrm>
          <a:prstGeom prst="rect">
            <a:avLst/>
          </a:prstGeom>
          <a:noFill/>
          <a:ln/>
        </p:spPr>
        <p:txBody>
          <a:bodyPr wrap="square" lIns="0" tIns="0" rIns="0" bIns="0" rtlCol="0" anchor="ctr"/>
          <a:lstStyle/>
          <a:p>
            <a:pPr algn="l" indent="0" marL="0">
              <a:lnSpc>
                <a:spcPct val="110000"/>
              </a:lnSpc>
              <a:buNone/>
            </a:pPr>
            <a:r>
              <a:rPr lang="en-US" sz="1100" dirty="0">
                <a:solidFill>
                  <a:srgbClr val="6E675A"/>
                </a:solidFill>
              </a:rPr>
              <a:t>Set on one quarter, it slips slightly on the next as the mix of complaints changes.</a:t>
            </a:r>
            <a:endParaRPr lang="en-US" sz="1100" dirty="0"/>
          </a:p>
        </p:txBody>
      </p:sp>
      <p:sp>
        <p:nvSpPr>
          <p:cNvPr id="31" name="Text 1"/>
          <p:cNvSpPr/>
          <p:nvPr>
            <p:ph idx="103" type="body" hasCustomPrompt="1"/>
          </p:nvPr>
        </p:nvSpPr>
        <p:spPr>
          <a:xfrm>
            <a:off x="11185855" y="6400800"/>
            <a:ext cx="320040" cy="274320"/>
          </a:xfrm>
          <a:prstGeom prst="rect">
            <a:avLst/>
          </a:prstGeom>
          <a:noFill/>
          <a:ln/>
        </p:spPr>
        <p:txBody>
          <a:bodyPr wrap="square" lIns="0" tIns="0" rIns="0" bIns="0" rtlCol="0"/>
          <a:lstStyle/>
          <a:p>
            <a:pPr algn="r" indent="0" marL="0">
              <a:buNone/>
            </a:pPr>
            <a:endParaRPr lang="en-US" sz="1000" dirty="0"/>
          </a:p>
        </p:txBody>
      </p:sp>
      <p:sp>
        <p:nvSpPr>
          <p:cNvPr id="25" name="Slide Number Placeholder 0"/>
          <p:cNvSpPr>
            <a:spLocks noGrp="1"/>
          </p:cNvSpPr>
          <p:nvPr>
            <p:ph type="sldNum" sz="quarter" idx="4294967295"/>
          </p:nvPr>
        </p:nvSpPr>
        <p:spPr>
          <a:xfrm>
            <a:off x="11185855" y="6400800"/>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75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420624"/>
            <a:ext cx="6400800" cy="292608"/>
          </a:xfrm>
          <a:prstGeom prst="rect">
            <a:avLst/>
          </a:prstGeom>
          <a:noFill/>
          <a:ln/>
        </p:spPr>
        <p:txBody>
          <a:bodyPr wrap="square" lIns="0" tIns="0" rIns="0" bIns="0" rtlCol="0"/>
          <a:lstStyle/>
          <a:p>
            <a:pPr algn="l" indent="0" marL="0">
              <a:buNone/>
            </a:pPr>
            <a:r>
              <a:rPr lang="en-US" sz="1300" b="1" spc="180" kern="0" dirty="0">
                <a:solidFill>
                  <a:schemeClr val="accent1"/>
                </a:solidFill>
              </a:rPr>
              <a:t>Findings</a:t>
            </a:r>
            <a:endParaRPr lang="en-US" sz="1300" dirty="0"/>
          </a:p>
        </p:txBody>
      </p:sp>
      <p:sp>
        <p:nvSpPr>
          <p:cNvPr id="3" name="Text 1"/>
          <p:cNvSpPr/>
          <p:nvPr>
            <p:ph idx="102" type="title" hasCustomPrompt="1"/>
          </p:nvPr>
        </p:nvSpPr>
        <p:spPr>
          <a:xfrm>
            <a:off x="685800" y="786384"/>
            <a:ext cx="10789920" cy="731520"/>
          </a:xfrm>
          <a:prstGeom prst="rect">
            <a:avLst/>
          </a:prstGeom>
          <a:noFill/>
          <a:ln/>
        </p:spPr>
        <p:txBody>
          <a:bodyPr wrap="square" lIns="0" tIns="0" rIns="0" bIns="0" rtlCol="0"/>
          <a:lstStyle/>
          <a:p>
            <a:pPr algn="l" indent="0" marL="0">
              <a:buNone/>
            </a:pPr>
            <a:r>
              <a:rPr lang="en-US" sz="3400" dirty="0">
                <a:solidFill>
                  <a:schemeClr val="tx1"/>
                </a:solidFill>
              </a:rPr>
              <a:t>What We Learned</a:t>
            </a:r>
            <a:endParaRPr lang="en-US" sz="3400" dirty="0"/>
          </a:p>
        </p:txBody>
      </p:sp>
      <p:sp>
        <p:nvSpPr>
          <p:cNvPr id="4" name="Text 2"/>
          <p:cNvSpPr txBox="1"/>
          <p:nvPr/>
        </p:nvSpPr>
        <p:spPr>
          <a:xfrm>
            <a:off x="685800" y="1828800"/>
            <a:ext cx="4983480" cy="347472"/>
          </a:xfrm>
          <a:prstGeom prst="rect">
            <a:avLst/>
          </a:prstGeom>
          <a:noFill/>
          <a:ln/>
        </p:spPr>
        <p:txBody>
          <a:bodyPr wrap="square" lIns="0" tIns="0" rIns="0" bIns="0" rtlCol="0" anchor="ctr"/>
          <a:lstStyle/>
          <a:p>
            <a:pPr algn="l" indent="0" marL="0">
              <a:buNone/>
            </a:pPr>
            <a:r>
              <a:rPr lang="en-US" sz="1900" b="1" dirty="0">
                <a:solidFill>
                  <a:srgbClr val="8A7340"/>
                </a:solidFill>
              </a:rPr>
              <a:t>The data mattered more than the model</a:t>
            </a:r>
            <a:endParaRPr lang="en-US" sz="1900" dirty="0"/>
          </a:p>
        </p:txBody>
      </p:sp>
      <p:sp>
        <p:nvSpPr>
          <p:cNvPr id="5" name="r0"/>
          <p:cNvSpPr/>
          <p:nvPr/>
        </p:nvSpPr>
        <p:spPr>
          <a:xfrm>
            <a:off x="685800" y="2249424"/>
            <a:ext cx="777240" cy="0"/>
          </a:xfrm>
          <a:prstGeom prst="line">
            <a:avLst/>
          </a:prstGeom>
          <a:noFill/>
          <a:ln w="19050">
            <a:solidFill>
              <a:srgbClr val="C4B58E"/>
            </a:solidFill>
            <a:prstDash val="solid"/>
          </a:ln>
        </p:spPr>
      </p:sp>
      <p:sp>
        <p:nvSpPr>
          <p:cNvPr id="6" name="Text 4"/>
          <p:cNvSpPr txBox="1"/>
          <p:nvPr/>
        </p:nvSpPr>
        <p:spPr>
          <a:xfrm>
            <a:off x="685800" y="2395728"/>
            <a:ext cx="4983480" cy="1737360"/>
          </a:xfrm>
          <a:prstGeom prst="rect">
            <a:avLst/>
          </a:prstGeom>
          <a:noFill/>
          <a:ln/>
        </p:spPr>
        <p:txBody>
          <a:bodyPr wrap="square" lIns="0" tIns="0" rIns="0" bIns="0" rtlCol="0" anchor="t"/>
          <a:lstStyle/>
          <a:p>
            <a:pPr algn="l" indent="0" marL="0">
              <a:lnSpc>
                <a:spcPct val="120000"/>
              </a:lnSpc>
              <a:buNone/>
            </a:pPr>
            <a:r>
              <a:rPr lang="en-US" sz="1400" dirty="0">
                <a:solidFill>
                  <a:srgbClr val="2E2B26"/>
                </a:solidFill>
              </a:rPr>
              <a:t>We capped how many complaints each issue could contribute, instead of each team. That stopped Credit Reporting, which is half of all traffic, from drowning out the smaller issues. Same model, better sample: the score went from 0.647 to 0.668.</a:t>
            </a:r>
            <a:endParaRPr lang="en-US" sz="1400" dirty="0"/>
          </a:p>
        </p:txBody>
      </p:sp>
      <p:sp>
        <p:nvSpPr>
          <p:cNvPr id="7" name="Text 5"/>
          <p:cNvSpPr txBox="1"/>
          <p:nvPr/>
        </p:nvSpPr>
        <p:spPr>
          <a:xfrm>
            <a:off x="6446520" y="1828800"/>
            <a:ext cx="5029200" cy="347472"/>
          </a:xfrm>
          <a:prstGeom prst="rect">
            <a:avLst/>
          </a:prstGeom>
          <a:noFill/>
          <a:ln/>
        </p:spPr>
        <p:txBody>
          <a:bodyPr wrap="square" lIns="0" tIns="0" rIns="0" bIns="0" rtlCol="0" anchor="ctr"/>
          <a:lstStyle/>
          <a:p>
            <a:pPr algn="l" indent="0" marL="0">
              <a:buNone/>
            </a:pPr>
            <a:r>
              <a:rPr lang="en-US" sz="1900" b="1" dirty="0">
                <a:solidFill>
                  <a:srgbClr val="8A7340"/>
                </a:solidFill>
              </a:rPr>
              <a:t>The labels were the real ceiling</a:t>
            </a:r>
            <a:endParaRPr lang="en-US" sz="1900" dirty="0"/>
          </a:p>
        </p:txBody>
      </p:sp>
      <p:sp>
        <p:nvSpPr>
          <p:cNvPr id="8" name="r1"/>
          <p:cNvSpPr/>
          <p:nvPr/>
        </p:nvSpPr>
        <p:spPr>
          <a:xfrm>
            <a:off x="6446520" y="2249424"/>
            <a:ext cx="777240" cy="0"/>
          </a:xfrm>
          <a:prstGeom prst="line">
            <a:avLst/>
          </a:prstGeom>
          <a:noFill/>
          <a:ln w="19050">
            <a:solidFill>
              <a:srgbClr val="C4B58E"/>
            </a:solidFill>
            <a:prstDash val="solid"/>
          </a:ln>
        </p:spPr>
      </p:sp>
      <p:sp>
        <p:nvSpPr>
          <p:cNvPr id="9" name="Text 7"/>
          <p:cNvSpPr txBox="1"/>
          <p:nvPr/>
        </p:nvSpPr>
        <p:spPr>
          <a:xfrm>
            <a:off x="6446520" y="2395728"/>
            <a:ext cx="5029200" cy="1737360"/>
          </a:xfrm>
          <a:prstGeom prst="rect">
            <a:avLst/>
          </a:prstGeom>
          <a:noFill/>
          <a:ln/>
        </p:spPr>
        <p:txBody>
          <a:bodyPr wrap="square" lIns="0" tIns="0" rIns="0" bIns="0" rtlCol="0" anchor="t"/>
          <a:lstStyle/>
          <a:p>
            <a:pPr algn="l" indent="0" marL="0">
              <a:lnSpc>
                <a:spcPct val="120000"/>
              </a:lnSpc>
              <a:buNone/>
            </a:pPr>
            <a:r>
              <a:rPr lang="en-US" sz="1400" dirty="0">
                <a:solidFill>
                  <a:srgbClr val="2E2B26"/>
                </a:solidFill>
              </a:rPr>
              <a:t>Around 500,000 complaints had the exact same text filed under different categories. We threw them out rather than guess which one was right. The categories people pick are not reliable, and no model gets past that.</a:t>
            </a:r>
            <a:endParaRPr lang="en-US" sz="1400" dirty="0"/>
          </a:p>
        </p:txBody>
      </p:sp>
      <p:sp>
        <p:nvSpPr>
          <p:cNvPr id="10" name="Text 8"/>
          <p:cNvSpPr txBox="1"/>
          <p:nvPr/>
        </p:nvSpPr>
        <p:spPr>
          <a:xfrm>
            <a:off x="685800" y="4069080"/>
            <a:ext cx="4983480" cy="347472"/>
          </a:xfrm>
          <a:prstGeom prst="rect">
            <a:avLst/>
          </a:prstGeom>
          <a:noFill/>
          <a:ln/>
        </p:spPr>
        <p:txBody>
          <a:bodyPr wrap="square" lIns="0" tIns="0" rIns="0" bIns="0" rtlCol="0" anchor="ctr"/>
          <a:lstStyle/>
          <a:p>
            <a:pPr algn="l" indent="0" marL="0">
              <a:buNone/>
            </a:pPr>
            <a:r>
              <a:rPr lang="en-US" sz="1900" b="1" dirty="0">
                <a:solidFill>
                  <a:srgbClr val="8A7340"/>
                </a:solidFill>
              </a:rPr>
              <a:t>The better model helped — but only after that</a:t>
            </a:r>
            <a:endParaRPr lang="en-US" sz="1900" dirty="0"/>
          </a:p>
        </p:txBody>
      </p:sp>
      <p:sp>
        <p:nvSpPr>
          <p:cNvPr id="11" name="r2"/>
          <p:cNvSpPr/>
          <p:nvPr/>
        </p:nvSpPr>
        <p:spPr>
          <a:xfrm>
            <a:off x="685800" y="4489704"/>
            <a:ext cx="777240" cy="0"/>
          </a:xfrm>
          <a:prstGeom prst="line">
            <a:avLst/>
          </a:prstGeom>
          <a:noFill/>
          <a:ln w="19050">
            <a:solidFill>
              <a:srgbClr val="C4B58E"/>
            </a:solidFill>
            <a:prstDash val="solid"/>
          </a:ln>
        </p:spPr>
      </p:sp>
      <p:sp>
        <p:nvSpPr>
          <p:cNvPr id="12" name="Text 10"/>
          <p:cNvSpPr txBox="1"/>
          <p:nvPr/>
        </p:nvSpPr>
        <p:spPr>
          <a:xfrm>
            <a:off x="685800" y="4636008"/>
            <a:ext cx="4983480" cy="1920240"/>
          </a:xfrm>
          <a:prstGeom prst="rect">
            <a:avLst/>
          </a:prstGeom>
          <a:noFill/>
          <a:ln/>
        </p:spPr>
        <p:txBody>
          <a:bodyPr wrap="square" lIns="0" tIns="0" rIns="0" bIns="0" rtlCol="0" anchor="t"/>
          <a:lstStyle/>
          <a:p>
            <a:pPr algn="l" indent="0" marL="0">
              <a:lnSpc>
                <a:spcPct val="120000"/>
              </a:lnSpc>
              <a:buNone/>
            </a:pPr>
            <a:r>
              <a:rPr lang="en-US" sz="1400" dirty="0">
                <a:solidFill>
                  <a:srgbClr val="2E2B26"/>
                </a:solidFill>
              </a:rPr>
              <a:t>On that cleaner sample, swapping in a smarter model added another 0.058, taking us to 0.726. Deciding the team first and the issue inside it also beat one big classifier. We tested both instead of assuming.</a:t>
            </a:r>
            <a:endParaRPr lang="en-US" sz="1400" dirty="0"/>
          </a:p>
        </p:txBody>
      </p:sp>
      <p:sp>
        <p:nvSpPr>
          <p:cNvPr id="13" name="Text 11"/>
          <p:cNvSpPr txBox="1"/>
          <p:nvPr/>
        </p:nvSpPr>
        <p:spPr>
          <a:xfrm>
            <a:off x="6446520" y="4069080"/>
            <a:ext cx="5029200" cy="347472"/>
          </a:xfrm>
          <a:prstGeom prst="rect">
            <a:avLst/>
          </a:prstGeom>
          <a:noFill/>
          <a:ln/>
        </p:spPr>
        <p:txBody>
          <a:bodyPr wrap="square" lIns="0" tIns="0" rIns="0" bIns="0" rtlCol="0" anchor="ctr"/>
          <a:lstStyle/>
          <a:p>
            <a:pPr algn="l" indent="0" marL="0">
              <a:buNone/>
            </a:pPr>
            <a:r>
              <a:rPr lang="en-US" sz="1900" b="1" dirty="0">
                <a:solidFill>
                  <a:srgbClr val="8A7340"/>
                </a:solidFill>
              </a:rPr>
              <a:t>A confidence score we can actually trust</a:t>
            </a:r>
            <a:endParaRPr lang="en-US" sz="1900" dirty="0"/>
          </a:p>
        </p:txBody>
      </p:sp>
      <p:sp>
        <p:nvSpPr>
          <p:cNvPr id="14" name="r3"/>
          <p:cNvSpPr/>
          <p:nvPr/>
        </p:nvSpPr>
        <p:spPr>
          <a:xfrm>
            <a:off x="6446520" y="4489704"/>
            <a:ext cx="777240" cy="0"/>
          </a:xfrm>
          <a:prstGeom prst="line">
            <a:avLst/>
          </a:prstGeom>
          <a:noFill/>
          <a:ln w="19050">
            <a:solidFill>
              <a:srgbClr val="C4B58E"/>
            </a:solidFill>
            <a:prstDash val="solid"/>
          </a:ln>
        </p:spPr>
      </p:sp>
      <p:sp>
        <p:nvSpPr>
          <p:cNvPr id="15" name="Text 13"/>
          <p:cNvSpPr txBox="1"/>
          <p:nvPr/>
        </p:nvSpPr>
        <p:spPr>
          <a:xfrm>
            <a:off x="6446520" y="4636008"/>
            <a:ext cx="5029200" cy="1920240"/>
          </a:xfrm>
          <a:prstGeom prst="rect">
            <a:avLst/>
          </a:prstGeom>
          <a:noFill/>
          <a:ln/>
        </p:spPr>
        <p:txBody>
          <a:bodyPr wrap="square" lIns="0" tIns="0" rIns="0" bIns="0" rtlCol="0" anchor="t"/>
          <a:lstStyle/>
          <a:p>
            <a:pPr algn="l" indent="0" marL="0">
              <a:lnSpc>
                <a:spcPct val="120000"/>
              </a:lnSpc>
              <a:buNone/>
            </a:pPr>
            <a:r>
              <a:rPr lang="en-US" sz="1400" dirty="0">
                <a:solidFill>
                  <a:srgbClr val="2E2B26"/>
                </a:solidFill>
              </a:rPr>
              <a:t>Raw scores are not probabilities. After calibrating them, a confidence of 0.9 means roughly nine out of ten. Giving each team its own bar then kept all eleven above our accuracy floor; one shared bar did not.</a:t>
            </a:r>
            <a:endParaRPr lang="en-US" sz="1400" dirty="0"/>
          </a:p>
        </p:txBody>
      </p:sp>
      <p:sp>
        <p:nvSpPr>
          <p:cNvPr id="17" name="Text 1"/>
          <p:cNvSpPr/>
          <p:nvPr>
            <p:ph idx="103" type="body" hasCustomPrompt="1"/>
          </p:nvPr>
        </p:nvSpPr>
        <p:spPr>
          <a:xfrm>
            <a:off x="11185855" y="6400800"/>
            <a:ext cx="320040" cy="274320"/>
          </a:xfrm>
          <a:prstGeom prst="rect">
            <a:avLst/>
          </a:prstGeom>
          <a:noFill/>
          <a:ln/>
        </p:spPr>
        <p:txBody>
          <a:bodyPr wrap="square" lIns="0" tIns="0" rIns="0" bIns="0" rtlCol="0"/>
          <a:lstStyle/>
          <a:p>
            <a:pPr algn="r" indent="0" marL="0">
              <a:buNone/>
            </a:pPr>
            <a:endParaRPr lang="en-US" sz="1000" dirty="0"/>
          </a:p>
        </p:txBody>
      </p:sp>
      <p:sp>
        <p:nvSpPr>
          <p:cNvPr id="25" name="Slide Number Placeholder 0"/>
          <p:cNvSpPr>
            <a:spLocks noGrp="1"/>
          </p:cNvSpPr>
          <p:nvPr>
            <p:ph type="sldNum" sz="quarter" idx="4294967295"/>
          </p:nvPr>
        </p:nvSpPr>
        <p:spPr>
          <a:xfrm>
            <a:off x="11185855" y="6400800"/>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75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420624"/>
            <a:ext cx="6400800" cy="292608"/>
          </a:xfrm>
          <a:prstGeom prst="rect">
            <a:avLst/>
          </a:prstGeom>
          <a:noFill/>
          <a:ln/>
        </p:spPr>
        <p:txBody>
          <a:bodyPr wrap="square" lIns="0" tIns="0" rIns="0" bIns="0" rtlCol="0"/>
          <a:lstStyle/>
          <a:p>
            <a:pPr algn="l" indent="0" marL="0">
              <a:buNone/>
            </a:pPr>
            <a:r>
              <a:rPr lang="en-US" sz="1300" b="1" spc="180" kern="0" dirty="0">
                <a:solidFill>
                  <a:schemeClr val="accent1"/>
                </a:solidFill>
              </a:rPr>
              <a:t>Limitations</a:t>
            </a:r>
            <a:endParaRPr lang="en-US" sz="1300" dirty="0"/>
          </a:p>
        </p:txBody>
      </p:sp>
      <p:sp>
        <p:nvSpPr>
          <p:cNvPr id="3" name="Text 1"/>
          <p:cNvSpPr/>
          <p:nvPr>
            <p:ph idx="102" type="title" hasCustomPrompt="1"/>
          </p:nvPr>
        </p:nvSpPr>
        <p:spPr>
          <a:xfrm>
            <a:off x="685800" y="786384"/>
            <a:ext cx="10789920" cy="731520"/>
          </a:xfrm>
          <a:prstGeom prst="rect">
            <a:avLst/>
          </a:prstGeom>
          <a:noFill/>
          <a:ln/>
        </p:spPr>
        <p:txBody>
          <a:bodyPr wrap="square" lIns="0" tIns="0" rIns="0" bIns="0" rtlCol="0"/>
          <a:lstStyle/>
          <a:p>
            <a:pPr algn="l" indent="0" marL="0">
              <a:buNone/>
            </a:pPr>
            <a:r>
              <a:rPr lang="en-US" sz="3400" dirty="0">
                <a:solidFill>
                  <a:schemeClr val="tx1"/>
                </a:solidFill>
              </a:rPr>
              <a:t>What Did Not Work</a:t>
            </a:r>
            <a:endParaRPr lang="en-US" sz="3400" dirty="0"/>
          </a:p>
        </p:txBody>
      </p:sp>
      <p:sp>
        <p:nvSpPr>
          <p:cNvPr id="4" name="Text 2"/>
          <p:cNvSpPr txBox="1"/>
          <p:nvPr/>
        </p:nvSpPr>
        <p:spPr>
          <a:xfrm>
            <a:off x="685800" y="1828800"/>
            <a:ext cx="4983480" cy="347472"/>
          </a:xfrm>
          <a:prstGeom prst="rect">
            <a:avLst/>
          </a:prstGeom>
          <a:noFill/>
          <a:ln/>
        </p:spPr>
        <p:txBody>
          <a:bodyPr wrap="square" lIns="0" tIns="0" rIns="0" bIns="0" rtlCol="0" anchor="ctr"/>
          <a:lstStyle/>
          <a:p>
            <a:pPr algn="l" indent="0" marL="0">
              <a:buNone/>
            </a:pPr>
            <a:r>
              <a:rPr lang="en-US" sz="1900" b="1" dirty="0">
                <a:solidFill>
                  <a:srgbClr val="B0653C"/>
                </a:solidFill>
              </a:rPr>
              <a:t>We can route it, but we cannot name it yet</a:t>
            </a:r>
            <a:endParaRPr lang="en-US" sz="1900" dirty="0"/>
          </a:p>
        </p:txBody>
      </p:sp>
      <p:sp>
        <p:nvSpPr>
          <p:cNvPr id="5" name="r0"/>
          <p:cNvSpPr/>
          <p:nvPr/>
        </p:nvSpPr>
        <p:spPr>
          <a:xfrm>
            <a:off x="685800" y="2249424"/>
            <a:ext cx="777240" cy="0"/>
          </a:xfrm>
          <a:prstGeom prst="line">
            <a:avLst/>
          </a:prstGeom>
          <a:noFill/>
          <a:ln w="19050">
            <a:solidFill>
              <a:srgbClr val="C4B58E"/>
            </a:solidFill>
            <a:prstDash val="solid"/>
          </a:ln>
        </p:spPr>
      </p:sp>
      <p:sp>
        <p:nvSpPr>
          <p:cNvPr id="6" name="Text 4"/>
          <p:cNvSpPr txBox="1"/>
          <p:nvPr/>
        </p:nvSpPr>
        <p:spPr>
          <a:xfrm>
            <a:off x="685800" y="2395728"/>
            <a:ext cx="4983480" cy="1737360"/>
          </a:xfrm>
          <a:prstGeom prst="rect">
            <a:avLst/>
          </a:prstGeom>
          <a:noFill/>
          <a:ln/>
        </p:spPr>
        <p:txBody>
          <a:bodyPr wrap="square" lIns="0" tIns="0" rIns="0" bIns="0" rtlCol="0" anchor="t"/>
          <a:lstStyle/>
          <a:p>
            <a:pPr algn="l" indent="0" marL="0">
              <a:lnSpc>
                <a:spcPct val="120000"/>
              </a:lnSpc>
              <a:buNone/>
            </a:pPr>
            <a:r>
              <a:rPr lang="en-US" sz="1400" dirty="0">
                <a:solidFill>
                  <a:srgbClr val="2E2B26"/>
                </a:solidFill>
              </a:rPr>
              <a:t>We get the team right most of the time. Naming which of the 73 issues it is, we get right about a third. Hand the model the correct team and that jumps to half — so the problem is the team decision, not the issue part.</a:t>
            </a:r>
            <a:endParaRPr lang="en-US" sz="1400" dirty="0"/>
          </a:p>
        </p:txBody>
      </p:sp>
      <p:sp>
        <p:nvSpPr>
          <p:cNvPr id="7" name="Text 5"/>
          <p:cNvSpPr txBox="1"/>
          <p:nvPr/>
        </p:nvSpPr>
        <p:spPr>
          <a:xfrm>
            <a:off x="6446520" y="1828800"/>
            <a:ext cx="5029200" cy="347472"/>
          </a:xfrm>
          <a:prstGeom prst="rect">
            <a:avLst/>
          </a:prstGeom>
          <a:noFill/>
          <a:ln/>
        </p:spPr>
        <p:txBody>
          <a:bodyPr wrap="square" lIns="0" tIns="0" rIns="0" bIns="0" rtlCol="0" anchor="ctr"/>
          <a:lstStyle/>
          <a:p>
            <a:pPr algn="l" indent="0" marL="0">
              <a:buNone/>
            </a:pPr>
            <a:r>
              <a:rPr lang="en-US" sz="1900" b="1" dirty="0">
                <a:solidFill>
                  <a:srgbClr val="B0653C"/>
                </a:solidFill>
              </a:rPr>
              <a:t>Some teams overlap no matter what we do</a:t>
            </a:r>
            <a:endParaRPr lang="en-US" sz="1900" dirty="0"/>
          </a:p>
        </p:txBody>
      </p:sp>
      <p:sp>
        <p:nvSpPr>
          <p:cNvPr id="8" name="r1"/>
          <p:cNvSpPr/>
          <p:nvPr/>
        </p:nvSpPr>
        <p:spPr>
          <a:xfrm>
            <a:off x="6446520" y="2249424"/>
            <a:ext cx="777240" cy="0"/>
          </a:xfrm>
          <a:prstGeom prst="line">
            <a:avLst/>
          </a:prstGeom>
          <a:noFill/>
          <a:ln w="19050">
            <a:solidFill>
              <a:srgbClr val="C4B58E"/>
            </a:solidFill>
            <a:prstDash val="solid"/>
          </a:ln>
        </p:spPr>
      </p:sp>
      <p:sp>
        <p:nvSpPr>
          <p:cNvPr id="9" name="Text 7"/>
          <p:cNvSpPr txBox="1"/>
          <p:nvPr/>
        </p:nvSpPr>
        <p:spPr>
          <a:xfrm>
            <a:off x="6446520" y="2395728"/>
            <a:ext cx="5029200" cy="1737360"/>
          </a:xfrm>
          <a:prstGeom prst="rect">
            <a:avLst/>
          </a:prstGeom>
          <a:noFill/>
          <a:ln/>
        </p:spPr>
        <p:txBody>
          <a:bodyPr wrap="square" lIns="0" tIns="0" rIns="0" bIns="0" rtlCol="0" anchor="t"/>
          <a:lstStyle/>
          <a:p>
            <a:pPr algn="l" indent="0" marL="0">
              <a:lnSpc>
                <a:spcPct val="120000"/>
              </a:lnSpc>
              <a:buNone/>
            </a:pPr>
            <a:r>
              <a:rPr lang="en-US" sz="1400" dirty="0">
                <a:solidFill>
                  <a:srgbClr val="2E2B26"/>
                </a:solidFill>
              </a:rPr>
              <a:t>Debt &amp; Credit Management keeps landing in Credit Reporting and Debt Collection. They all talk about disputes and credit repair in the same words. That looks like the category list being wrong, not the model.</a:t>
            </a:r>
            <a:endParaRPr lang="en-US" sz="1400" dirty="0"/>
          </a:p>
        </p:txBody>
      </p:sp>
      <p:sp>
        <p:nvSpPr>
          <p:cNvPr id="10" name="Text 8"/>
          <p:cNvSpPr txBox="1"/>
          <p:nvPr/>
        </p:nvSpPr>
        <p:spPr>
          <a:xfrm>
            <a:off x="685800" y="4069080"/>
            <a:ext cx="4983480" cy="347472"/>
          </a:xfrm>
          <a:prstGeom prst="rect">
            <a:avLst/>
          </a:prstGeom>
          <a:noFill/>
          <a:ln/>
        </p:spPr>
        <p:txBody>
          <a:bodyPr wrap="square" lIns="0" tIns="0" rIns="0" bIns="0" rtlCol="0" anchor="ctr"/>
          <a:lstStyle/>
          <a:p>
            <a:pPr algn="l" indent="0" marL="0">
              <a:buNone/>
            </a:pPr>
            <a:r>
              <a:rPr lang="en-US" sz="1900" b="1" dirty="0">
                <a:solidFill>
                  <a:srgbClr val="B0653C"/>
                </a:solidFill>
              </a:rPr>
              <a:t>The confidence bar slips each quarter</a:t>
            </a:r>
            <a:endParaRPr lang="en-US" sz="1900" dirty="0"/>
          </a:p>
        </p:txBody>
      </p:sp>
      <p:sp>
        <p:nvSpPr>
          <p:cNvPr id="11" name="r2"/>
          <p:cNvSpPr/>
          <p:nvPr/>
        </p:nvSpPr>
        <p:spPr>
          <a:xfrm>
            <a:off x="685800" y="4489704"/>
            <a:ext cx="777240" cy="0"/>
          </a:xfrm>
          <a:prstGeom prst="line">
            <a:avLst/>
          </a:prstGeom>
          <a:noFill/>
          <a:ln w="19050">
            <a:solidFill>
              <a:srgbClr val="C4B58E"/>
            </a:solidFill>
            <a:prstDash val="solid"/>
          </a:ln>
        </p:spPr>
      </p:sp>
      <p:sp>
        <p:nvSpPr>
          <p:cNvPr id="12" name="Text 10"/>
          <p:cNvSpPr txBox="1"/>
          <p:nvPr/>
        </p:nvSpPr>
        <p:spPr>
          <a:xfrm>
            <a:off x="685800" y="4636008"/>
            <a:ext cx="4983480" cy="1920240"/>
          </a:xfrm>
          <a:prstGeom prst="rect">
            <a:avLst/>
          </a:prstGeom>
          <a:noFill/>
          <a:ln/>
        </p:spPr>
        <p:txBody>
          <a:bodyPr wrap="square" lIns="0" tIns="0" rIns="0" bIns="0" rtlCol="0" anchor="t"/>
          <a:lstStyle/>
          <a:p>
            <a:pPr algn="l" indent="0" marL="0">
              <a:lnSpc>
                <a:spcPct val="120000"/>
              </a:lnSpc>
              <a:buNone/>
            </a:pPr>
            <a:r>
              <a:rPr lang="en-US" sz="1400" dirty="0">
                <a:solidFill>
                  <a:srgbClr val="2E2B26"/>
                </a:solidFill>
              </a:rPr>
              <a:t>We set the bar on one quarter and it comes up slightly short on the next, as the mix of complaints changes. Two teams never clear it at all, so we simply do not auto-route them.</a:t>
            </a:r>
            <a:endParaRPr lang="en-US" sz="1400" dirty="0"/>
          </a:p>
        </p:txBody>
      </p:sp>
      <p:sp>
        <p:nvSpPr>
          <p:cNvPr id="13" name="Text 11"/>
          <p:cNvSpPr txBox="1"/>
          <p:nvPr/>
        </p:nvSpPr>
        <p:spPr>
          <a:xfrm>
            <a:off x="6446520" y="4069080"/>
            <a:ext cx="5029200" cy="347472"/>
          </a:xfrm>
          <a:prstGeom prst="rect">
            <a:avLst/>
          </a:prstGeom>
          <a:noFill/>
          <a:ln/>
        </p:spPr>
        <p:txBody>
          <a:bodyPr wrap="square" lIns="0" tIns="0" rIns="0" bIns="0" rtlCol="0" anchor="ctr"/>
          <a:lstStyle/>
          <a:p>
            <a:pPr algn="l" indent="0" marL="0">
              <a:buNone/>
            </a:pPr>
            <a:r>
              <a:rPr lang="en-US" sz="1900" b="1" dirty="0">
                <a:solidFill>
                  <a:srgbClr val="B0653C"/>
                </a:solidFill>
              </a:rPr>
              <a:t>We are still leaving most of the data unused</a:t>
            </a:r>
            <a:endParaRPr lang="en-US" sz="1900" dirty="0"/>
          </a:p>
        </p:txBody>
      </p:sp>
      <p:sp>
        <p:nvSpPr>
          <p:cNvPr id="14" name="r3"/>
          <p:cNvSpPr/>
          <p:nvPr/>
        </p:nvSpPr>
        <p:spPr>
          <a:xfrm>
            <a:off x="6446520" y="4489704"/>
            <a:ext cx="777240" cy="0"/>
          </a:xfrm>
          <a:prstGeom prst="line">
            <a:avLst/>
          </a:prstGeom>
          <a:noFill/>
          <a:ln w="19050">
            <a:solidFill>
              <a:srgbClr val="C4B58E"/>
            </a:solidFill>
            <a:prstDash val="solid"/>
          </a:ln>
        </p:spPr>
      </p:sp>
      <p:sp>
        <p:nvSpPr>
          <p:cNvPr id="15" name="Text 13"/>
          <p:cNvSpPr txBox="1"/>
          <p:nvPr/>
        </p:nvSpPr>
        <p:spPr>
          <a:xfrm>
            <a:off x="6446520" y="4636008"/>
            <a:ext cx="5029200" cy="1920240"/>
          </a:xfrm>
          <a:prstGeom prst="rect">
            <a:avLst/>
          </a:prstGeom>
          <a:noFill/>
          <a:ln/>
        </p:spPr>
        <p:txBody>
          <a:bodyPr wrap="square" lIns="0" tIns="0" rIns="0" bIns="0" rtlCol="0" anchor="t"/>
          <a:lstStyle/>
          <a:p>
            <a:pPr algn="l" indent="0" marL="0">
              <a:lnSpc>
                <a:spcPct val="120000"/>
              </a:lnSpc>
              <a:buNone/>
            </a:pPr>
            <a:r>
              <a:rPr lang="en-US" sz="1400" dirty="0">
                <a:solidFill>
                  <a:srgbClr val="2E2B26"/>
                </a:solidFill>
              </a:rPr>
              <a:t>We train on about a quarter of the complaints we have. The cap protects the smaller categories, but we have not tested whether the bigger ones would do better with the rest.</a:t>
            </a:r>
            <a:endParaRPr lang="en-US" sz="1400" dirty="0"/>
          </a:p>
        </p:txBody>
      </p:sp>
      <p:sp>
        <p:nvSpPr>
          <p:cNvPr id="17" name="Text 1"/>
          <p:cNvSpPr/>
          <p:nvPr>
            <p:ph idx="103" type="body" hasCustomPrompt="1"/>
          </p:nvPr>
        </p:nvSpPr>
        <p:spPr>
          <a:xfrm>
            <a:off x="11185855" y="6400800"/>
            <a:ext cx="320040" cy="274320"/>
          </a:xfrm>
          <a:prstGeom prst="rect">
            <a:avLst/>
          </a:prstGeom>
          <a:noFill/>
          <a:ln/>
        </p:spPr>
        <p:txBody>
          <a:bodyPr wrap="square" lIns="0" tIns="0" rIns="0" bIns="0" rtlCol="0"/>
          <a:lstStyle/>
          <a:p>
            <a:pPr algn="r" indent="0" marL="0">
              <a:buNone/>
            </a:pPr>
            <a:endParaRPr lang="en-US" sz="1000" dirty="0"/>
          </a:p>
        </p:txBody>
      </p:sp>
      <p:sp>
        <p:nvSpPr>
          <p:cNvPr id="25" name="Slide Number Placeholder 0"/>
          <p:cNvSpPr>
            <a:spLocks noGrp="1"/>
          </p:cNvSpPr>
          <p:nvPr>
            <p:ph type="sldNum" sz="quarter" idx="4294967295"/>
          </p:nvPr>
        </p:nvSpPr>
        <p:spPr>
          <a:xfrm>
            <a:off x="11185855" y="6400800"/>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75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420624"/>
            <a:ext cx="6400800" cy="292608"/>
          </a:xfrm>
          <a:prstGeom prst="rect">
            <a:avLst/>
          </a:prstGeom>
          <a:noFill/>
          <a:ln/>
        </p:spPr>
        <p:txBody>
          <a:bodyPr wrap="square" lIns="0" tIns="0" rIns="0" bIns="0" rtlCol="0"/>
          <a:lstStyle/>
          <a:p>
            <a:pPr algn="l" indent="0" marL="0">
              <a:buNone/>
            </a:pPr>
            <a:r>
              <a:rPr lang="en-US" sz="1300" b="1" spc="180" kern="0" dirty="0">
                <a:solidFill>
                  <a:schemeClr val="accent1"/>
                </a:solidFill>
              </a:rPr>
              <a:t>Live demo</a:t>
            </a:r>
            <a:endParaRPr lang="en-US" sz="1300" dirty="0"/>
          </a:p>
        </p:txBody>
      </p:sp>
      <p:sp>
        <p:nvSpPr>
          <p:cNvPr id="3" name="Text 1"/>
          <p:cNvSpPr/>
          <p:nvPr>
            <p:ph idx="102" type="title" hasCustomPrompt="1"/>
          </p:nvPr>
        </p:nvSpPr>
        <p:spPr>
          <a:xfrm>
            <a:off x="685800" y="786384"/>
            <a:ext cx="10789920" cy="731520"/>
          </a:xfrm>
          <a:prstGeom prst="rect">
            <a:avLst/>
          </a:prstGeom>
          <a:noFill/>
          <a:ln/>
        </p:spPr>
        <p:txBody>
          <a:bodyPr wrap="square" lIns="0" tIns="0" rIns="0" bIns="0" rtlCol="0"/>
          <a:lstStyle/>
          <a:p>
            <a:pPr algn="l" indent="0" marL="0">
              <a:buNone/>
            </a:pPr>
            <a:r>
              <a:rPr lang="en-US" sz="3400" dirty="0">
                <a:solidFill>
                  <a:schemeClr val="tx1"/>
                </a:solidFill>
              </a:rPr>
              <a:t>No dropdowns — write it, and it routes itself</a:t>
            </a:r>
            <a:endParaRPr lang="en-US" sz="3400" dirty="0"/>
          </a:p>
        </p:txBody>
      </p:sp>
      <p:sp>
        <p:nvSpPr>
          <p:cNvPr id="4" name="browser"/>
          <p:cNvSpPr/>
          <p:nvPr/>
        </p:nvSpPr>
        <p:spPr>
          <a:xfrm>
            <a:off x="685800" y="1737360"/>
            <a:ext cx="6492240" cy="4160520"/>
          </a:xfrm>
          <a:prstGeom prst="roundRect">
            <a:avLst>
              <a:gd name="adj" fmla="val 1758"/>
            </a:avLst>
          </a:prstGeom>
          <a:solidFill>
            <a:srgbClr val="FFFFFF"/>
          </a:solidFill>
          <a:ln w="12700">
            <a:solidFill>
              <a:srgbClr val="DED6C2"/>
            </a:solidFill>
            <a:prstDash val="solid"/>
          </a:ln>
        </p:spPr>
      </p:sp>
      <p:sp>
        <p:nvSpPr>
          <p:cNvPr id="5" name="w0"/>
          <p:cNvSpPr/>
          <p:nvPr/>
        </p:nvSpPr>
        <p:spPr>
          <a:xfrm>
            <a:off x="941832" y="1938528"/>
            <a:ext cx="137160" cy="137160"/>
          </a:xfrm>
          <a:prstGeom prst="ellipse">
            <a:avLst/>
          </a:prstGeom>
          <a:solidFill>
            <a:srgbClr val="B0653C"/>
          </a:solidFill>
          <a:ln w="12700">
            <a:solidFill>
              <a:srgbClr val="B0653C"/>
            </a:solidFill>
            <a:prstDash val="solid"/>
          </a:ln>
        </p:spPr>
      </p:sp>
      <p:sp>
        <p:nvSpPr>
          <p:cNvPr id="6" name="w1"/>
          <p:cNvSpPr/>
          <p:nvPr/>
        </p:nvSpPr>
        <p:spPr>
          <a:xfrm>
            <a:off x="1179576" y="1938528"/>
            <a:ext cx="137160" cy="137160"/>
          </a:xfrm>
          <a:prstGeom prst="ellipse">
            <a:avLst/>
          </a:prstGeom>
          <a:solidFill>
            <a:srgbClr val="A8935E"/>
          </a:solidFill>
          <a:ln w="12700">
            <a:solidFill>
              <a:srgbClr val="A8935E"/>
            </a:solidFill>
            <a:prstDash val="solid"/>
          </a:ln>
        </p:spPr>
      </p:sp>
      <p:sp>
        <p:nvSpPr>
          <p:cNvPr id="7" name="w2"/>
          <p:cNvSpPr/>
          <p:nvPr/>
        </p:nvSpPr>
        <p:spPr>
          <a:xfrm>
            <a:off x="1417320" y="1938528"/>
            <a:ext cx="137160" cy="137160"/>
          </a:xfrm>
          <a:prstGeom prst="ellipse">
            <a:avLst/>
          </a:prstGeom>
          <a:solidFill>
            <a:srgbClr val="5F6B52"/>
          </a:solidFill>
          <a:ln w="12700">
            <a:solidFill>
              <a:srgbClr val="5F6B52"/>
            </a:solidFill>
            <a:prstDash val="solid"/>
          </a:ln>
        </p:spPr>
      </p:sp>
      <p:sp>
        <p:nvSpPr>
          <p:cNvPr id="8" name="Text 6"/>
          <p:cNvSpPr txBox="1"/>
          <p:nvPr/>
        </p:nvSpPr>
        <p:spPr>
          <a:xfrm>
            <a:off x="1783080" y="1874520"/>
            <a:ext cx="3657600" cy="274320"/>
          </a:xfrm>
          <a:prstGeom prst="rect">
            <a:avLst/>
          </a:prstGeom>
          <a:noFill/>
          <a:ln/>
        </p:spPr>
        <p:txBody>
          <a:bodyPr wrap="square" lIns="0" tIns="0" rIns="0" bIns="0" rtlCol="0" anchor="ctr"/>
          <a:lstStyle/>
          <a:p>
            <a:pPr algn="l" indent="0" marL="0">
              <a:buNone/>
            </a:pPr>
            <a:r>
              <a:rPr lang="en-US" sz="1050" dirty="0">
                <a:solidFill>
                  <a:srgbClr val="6E675A"/>
                </a:solidFill>
              </a:rPr>
              <a:t>claricase.streamlit.app</a:t>
            </a:r>
            <a:endParaRPr lang="en-US" sz="1050" dirty="0"/>
          </a:p>
        </p:txBody>
      </p:sp>
      <p:sp>
        <p:nvSpPr>
          <p:cNvPr id="9" name="Text 7"/>
          <p:cNvSpPr txBox="1"/>
          <p:nvPr/>
        </p:nvSpPr>
        <p:spPr>
          <a:xfrm>
            <a:off x="960120" y="2359152"/>
            <a:ext cx="5943600" cy="256032"/>
          </a:xfrm>
          <a:prstGeom prst="rect">
            <a:avLst/>
          </a:prstGeom>
          <a:noFill/>
          <a:ln/>
        </p:spPr>
        <p:txBody>
          <a:bodyPr wrap="square" lIns="0" tIns="0" rIns="0" bIns="0" rtlCol="0" anchor="ctr"/>
          <a:lstStyle/>
          <a:p>
            <a:pPr algn="l" indent="0" marL="0">
              <a:buNone/>
            </a:pPr>
            <a:r>
              <a:rPr lang="en-US" sz="1200" b="1" dirty="0">
                <a:solidFill>
                  <a:srgbClr val="6E675A"/>
                </a:solidFill>
              </a:rPr>
              <a:t>Describe your problem</a:t>
            </a:r>
            <a:endParaRPr lang="en-US" sz="1200" dirty="0"/>
          </a:p>
        </p:txBody>
      </p:sp>
      <p:sp>
        <p:nvSpPr>
          <p:cNvPr id="10" name="textarea"/>
          <p:cNvSpPr/>
          <p:nvPr/>
        </p:nvSpPr>
        <p:spPr>
          <a:xfrm>
            <a:off x="960120" y="2651760"/>
            <a:ext cx="5943600" cy="1024128"/>
          </a:xfrm>
          <a:prstGeom prst="roundRect">
            <a:avLst>
              <a:gd name="adj" fmla="val 7143"/>
            </a:avLst>
          </a:prstGeom>
          <a:solidFill>
            <a:srgbClr val="FAF7EF"/>
          </a:solidFill>
          <a:ln w="12700">
            <a:solidFill>
              <a:srgbClr val="DED6C2"/>
            </a:solidFill>
            <a:prstDash val="solid"/>
          </a:ln>
        </p:spPr>
      </p:sp>
      <p:sp>
        <p:nvSpPr>
          <p:cNvPr id="11" name="Text 9"/>
          <p:cNvSpPr txBox="1"/>
          <p:nvPr/>
        </p:nvSpPr>
        <p:spPr>
          <a:xfrm>
            <a:off x="1124712" y="2770632"/>
            <a:ext cx="5614416" cy="822960"/>
          </a:xfrm>
          <a:prstGeom prst="rect">
            <a:avLst/>
          </a:prstGeom>
          <a:noFill/>
          <a:ln/>
        </p:spPr>
        <p:txBody>
          <a:bodyPr wrap="square" lIns="0" tIns="0" rIns="0" bIns="0" rtlCol="0" anchor="ctr"/>
          <a:lstStyle/>
          <a:p>
            <a:pPr algn="l" indent="0" marL="0">
              <a:lnSpc>
                <a:spcPct val="115000"/>
              </a:lnSpc>
              <a:buNone/>
            </a:pPr>
            <a:r>
              <a:rPr lang="en-US" sz="1300" i="1" dirty="0">
                <a:solidFill>
                  <a:srgbClr val="2E2B26"/>
                </a:solidFill>
              </a:rPr>
              <a:t>“A debt collector keeps calling me about a loan I already paid off two years ago, and it is still showing as open on my credit report.”</a:t>
            </a:r>
            <a:endParaRPr lang="en-US" sz="1300" dirty="0"/>
          </a:p>
        </p:txBody>
      </p:sp>
      <p:sp>
        <p:nvSpPr>
          <p:cNvPr id="12" name="result"/>
          <p:cNvSpPr/>
          <p:nvPr/>
        </p:nvSpPr>
        <p:spPr>
          <a:xfrm>
            <a:off x="960120" y="3840480"/>
            <a:ext cx="5943600" cy="1828800"/>
          </a:xfrm>
          <a:prstGeom prst="roundRect">
            <a:avLst>
              <a:gd name="adj" fmla="val 4000"/>
            </a:avLst>
          </a:prstGeom>
          <a:solidFill>
            <a:srgbClr val="F2EDE0"/>
          </a:solidFill>
          <a:ln w="12700">
            <a:solidFill>
              <a:srgbClr val="8A7340"/>
            </a:solidFill>
            <a:prstDash val="solid"/>
          </a:ln>
        </p:spPr>
      </p:sp>
      <p:sp>
        <p:nvSpPr>
          <p:cNvPr id="13" name="Text 11"/>
          <p:cNvSpPr txBox="1"/>
          <p:nvPr/>
        </p:nvSpPr>
        <p:spPr>
          <a:xfrm>
            <a:off x="1161288" y="3995928"/>
            <a:ext cx="1828800" cy="237744"/>
          </a:xfrm>
          <a:prstGeom prst="rect">
            <a:avLst/>
          </a:prstGeom>
          <a:noFill/>
          <a:ln/>
        </p:spPr>
        <p:txBody>
          <a:bodyPr wrap="square" lIns="0" tIns="0" rIns="0" bIns="0" rtlCol="0" anchor="ctr"/>
          <a:lstStyle/>
          <a:p>
            <a:pPr algn="l" indent="0" marL="0">
              <a:buNone/>
            </a:pPr>
            <a:r>
              <a:rPr lang="en-US" sz="1100" b="1" spc="180" kern="0" dirty="0">
                <a:solidFill>
                  <a:srgbClr val="8A7340"/>
                </a:solidFill>
              </a:rPr>
              <a:t>ROUTED</a:t>
            </a:r>
            <a:endParaRPr lang="en-US" sz="1100" dirty="0"/>
          </a:p>
        </p:txBody>
      </p:sp>
      <p:sp>
        <p:nvSpPr>
          <p:cNvPr id="14" name="Text 12"/>
          <p:cNvSpPr txBox="1"/>
          <p:nvPr/>
        </p:nvSpPr>
        <p:spPr>
          <a:xfrm>
            <a:off x="1161288" y="4242816"/>
            <a:ext cx="4114800" cy="411480"/>
          </a:xfrm>
          <a:prstGeom prst="rect">
            <a:avLst/>
          </a:prstGeom>
          <a:noFill/>
          <a:ln/>
        </p:spPr>
        <p:txBody>
          <a:bodyPr wrap="square" lIns="0" tIns="0" rIns="0" bIns="0" rtlCol="0" anchor="ctr"/>
          <a:lstStyle/>
          <a:p>
            <a:pPr algn="l" indent="0" marL="0">
              <a:buNone/>
            </a:pPr>
            <a:r>
              <a:rPr lang="en-US" sz="2400" b="1" dirty="0">
                <a:solidFill>
                  <a:srgbClr val="2E2B26"/>
                </a:solidFill>
              </a:rPr>
              <a:t>Debt Collection</a:t>
            </a:r>
            <a:endParaRPr lang="en-US" sz="2400" dirty="0"/>
          </a:p>
        </p:txBody>
      </p:sp>
      <p:sp>
        <p:nvSpPr>
          <p:cNvPr id="15" name="Text 13"/>
          <p:cNvSpPr txBox="1"/>
          <p:nvPr/>
        </p:nvSpPr>
        <p:spPr>
          <a:xfrm>
            <a:off x="1161288" y="4700016"/>
            <a:ext cx="5577840" cy="868680"/>
          </a:xfrm>
          <a:prstGeom prst="rect">
            <a:avLst/>
          </a:prstGeom>
          <a:noFill/>
          <a:ln/>
        </p:spPr>
        <p:txBody>
          <a:bodyPr wrap="square" lIns="0" tIns="0" rIns="0" bIns="0" rtlCol="0" anchor="ctr"/>
          <a:lstStyle/>
          <a:p>
            <a:pPr algn="l" indent="0" marL="0">
              <a:lnSpc>
                <a:spcPct val="130000"/>
              </a:lnSpc>
              <a:buNone/>
            </a:pPr>
            <a:r>
              <a:rPr lang="en-US" sz="1200" dirty="0">
                <a:solidFill>
                  <a:srgbClr val="6E675A"/>
                </a:solidFill>
              </a:rPr>
              <a:t>Likely issue   </a:t>
            </a:r>
            <a:pPr algn="l" indent="0" marL="0">
              <a:lnSpc>
                <a:spcPct val="130000"/>
              </a:lnSpc>
              <a:buNone/>
            </a:pPr>
            <a:r>
              <a:rPr lang="en-US" sz="1200" b="1" dirty="0">
                <a:solidFill>
                  <a:srgbClr val="2E2B26"/>
                </a:solidFill>
              </a:rPr>
              <a:t>Attempts to collect debt not owed</a:t>
            </a:r>
            <a:endParaRPr lang="en-US" sz="1200" dirty="0"/>
          </a:p>
          <a:p>
            <a:pPr algn="l" indent="0" marL="0">
              <a:lnSpc>
                <a:spcPct val="130000"/>
              </a:lnSpc>
              <a:buNone/>
            </a:pPr>
            <a:r>
              <a:rPr lang="en-US" sz="1200" dirty="0">
                <a:solidFill>
                  <a:srgbClr val="6E675A"/>
                </a:solidFill>
              </a:rPr>
              <a:t>Confidence   </a:t>
            </a:r>
            <a:pPr algn="l" indent="0" marL="0">
              <a:lnSpc>
                <a:spcPct val="130000"/>
              </a:lnSpc>
              <a:buNone/>
            </a:pPr>
            <a:r>
              <a:rPr lang="en-US" sz="1200" b="1" dirty="0">
                <a:solidFill>
                  <a:srgbClr val="8A7340"/>
                </a:solidFill>
              </a:rPr>
              <a:t>0.91  —  high enough to route with no review</a:t>
            </a:r>
            <a:endParaRPr lang="en-US" sz="1200" dirty="0"/>
          </a:p>
          <a:p>
            <a:pPr algn="l" indent="0" marL="0">
              <a:lnSpc>
                <a:spcPct val="130000"/>
              </a:lnSpc>
              <a:buNone/>
            </a:pPr>
            <a:r>
              <a:rPr lang="en-US" sz="1200" dirty="0">
                <a:solidFill>
                  <a:srgbClr val="6E675A"/>
                </a:solidFill>
              </a:rPr>
              <a:t>Tracking ID   </a:t>
            </a:r>
            <a:pPr algn="l" indent="0" marL="0">
              <a:lnSpc>
                <a:spcPct val="130000"/>
              </a:lnSpc>
              <a:buNone/>
            </a:pPr>
            <a:r>
              <a:rPr lang="en-US" sz="1200" b="1" dirty="0">
                <a:solidFill>
                  <a:srgbClr val="2E2B26"/>
                </a:solidFill>
              </a:rPr>
              <a:t>CC-72LSLC</a:t>
            </a:r>
            <a:endParaRPr lang="en-US" sz="1200" dirty="0"/>
          </a:p>
        </p:txBody>
      </p:sp>
      <p:sp>
        <p:nvSpPr>
          <p:cNvPr id="16" name="Text 14"/>
          <p:cNvSpPr txBox="1"/>
          <p:nvPr/>
        </p:nvSpPr>
        <p:spPr>
          <a:xfrm>
            <a:off x="7498080" y="1737360"/>
            <a:ext cx="4023360" cy="310896"/>
          </a:xfrm>
          <a:prstGeom prst="rect">
            <a:avLst/>
          </a:prstGeom>
          <a:noFill/>
          <a:ln/>
        </p:spPr>
        <p:txBody>
          <a:bodyPr wrap="square" lIns="0" tIns="0" rIns="0" bIns="0" rtlCol="0" anchor="ctr"/>
          <a:lstStyle/>
          <a:p>
            <a:pPr algn="l" indent="0" marL="0">
              <a:buNone/>
            </a:pPr>
            <a:r>
              <a:rPr lang="en-US" sz="1700" b="1" dirty="0">
                <a:solidFill>
                  <a:srgbClr val="8A7340"/>
                </a:solidFill>
              </a:rPr>
              <a:t>What to watch for</a:t>
            </a:r>
            <a:endParaRPr lang="en-US" sz="1700" dirty="0"/>
          </a:p>
        </p:txBody>
      </p:sp>
      <p:sp>
        <p:nvSpPr>
          <p:cNvPr id="17" name="rw"/>
          <p:cNvSpPr/>
          <p:nvPr/>
        </p:nvSpPr>
        <p:spPr>
          <a:xfrm>
            <a:off x="7498080" y="2121408"/>
            <a:ext cx="822960" cy="0"/>
          </a:xfrm>
          <a:prstGeom prst="line">
            <a:avLst/>
          </a:prstGeom>
          <a:noFill/>
          <a:ln w="19050">
            <a:solidFill>
              <a:srgbClr val="C4B58E"/>
            </a:solidFill>
            <a:prstDash val="solid"/>
          </a:ln>
        </p:spPr>
      </p:sp>
      <p:sp>
        <p:nvSpPr>
          <p:cNvPr id="18" name="n1"/>
          <p:cNvSpPr/>
          <p:nvPr/>
        </p:nvSpPr>
        <p:spPr>
          <a:xfrm>
            <a:off x="7498080" y="2286000"/>
            <a:ext cx="365760" cy="365760"/>
          </a:xfrm>
          <a:prstGeom prst="ellipse">
            <a:avLst/>
          </a:prstGeom>
          <a:solidFill>
            <a:srgbClr val="8A7340"/>
          </a:solidFill>
          <a:ln w="12700">
            <a:solidFill>
              <a:srgbClr val="8A7340"/>
            </a:solidFill>
            <a:prstDash val="solid"/>
          </a:ln>
        </p:spPr>
      </p:sp>
      <p:sp>
        <p:nvSpPr>
          <p:cNvPr id="19" name="Text 17"/>
          <p:cNvSpPr txBox="1"/>
          <p:nvPr/>
        </p:nvSpPr>
        <p:spPr>
          <a:xfrm>
            <a:off x="7498080" y="2286000"/>
            <a:ext cx="365760" cy="365760"/>
          </a:xfrm>
          <a:prstGeom prst="rect">
            <a:avLst/>
          </a:prstGeom>
          <a:noFill/>
          <a:ln/>
        </p:spPr>
        <p:txBody>
          <a:bodyPr wrap="square" lIns="0" tIns="0" rIns="0" bIns="0" rtlCol="0" anchor="ctr"/>
          <a:lstStyle/>
          <a:p>
            <a:pPr algn="ctr" indent="0" marL="0">
              <a:buNone/>
            </a:pPr>
            <a:r>
              <a:rPr lang="en-US" sz="1300" b="1" dirty="0">
                <a:solidFill>
                  <a:srgbClr val="FAF7EF"/>
                </a:solidFill>
              </a:rPr>
              <a:t>1</a:t>
            </a:r>
            <a:endParaRPr lang="en-US" sz="1300" dirty="0"/>
          </a:p>
        </p:txBody>
      </p:sp>
      <p:sp>
        <p:nvSpPr>
          <p:cNvPr id="20" name="Text 18"/>
          <p:cNvSpPr txBox="1"/>
          <p:nvPr/>
        </p:nvSpPr>
        <p:spPr>
          <a:xfrm>
            <a:off x="8028432" y="2267712"/>
            <a:ext cx="3474720" cy="256032"/>
          </a:xfrm>
          <a:prstGeom prst="rect">
            <a:avLst/>
          </a:prstGeom>
          <a:noFill/>
          <a:ln/>
        </p:spPr>
        <p:txBody>
          <a:bodyPr wrap="square" lIns="0" tIns="0" rIns="0" bIns="0" rtlCol="0" anchor="ctr"/>
          <a:lstStyle/>
          <a:p>
            <a:pPr algn="l" indent="0" marL="0">
              <a:buNone/>
            </a:pPr>
            <a:r>
              <a:rPr lang="en-US" sz="1350" b="1" dirty="0">
                <a:solidFill>
                  <a:srgbClr val="2E2B26"/>
                </a:solidFill>
              </a:rPr>
              <a:t>The consumer picks nothing</a:t>
            </a:r>
            <a:endParaRPr lang="en-US" sz="1350" dirty="0"/>
          </a:p>
        </p:txBody>
      </p:sp>
      <p:sp>
        <p:nvSpPr>
          <p:cNvPr id="21" name="Text 19"/>
          <p:cNvSpPr txBox="1"/>
          <p:nvPr/>
        </p:nvSpPr>
        <p:spPr>
          <a:xfrm>
            <a:off x="8028432" y="2532888"/>
            <a:ext cx="3474720" cy="566928"/>
          </a:xfrm>
          <a:prstGeom prst="rect">
            <a:avLst/>
          </a:prstGeom>
          <a:noFill/>
          <a:ln/>
        </p:spPr>
        <p:txBody>
          <a:bodyPr wrap="square" lIns="0" tIns="0" rIns="0" bIns="0" rtlCol="0" anchor="ctr"/>
          <a:lstStyle/>
          <a:p>
            <a:pPr algn="l" indent="0" marL="0">
              <a:lnSpc>
                <a:spcPct val="112000"/>
              </a:lnSpc>
              <a:buNone/>
            </a:pPr>
            <a:r>
              <a:rPr lang="en-US" sz="1150" dirty="0">
                <a:solidFill>
                  <a:srgbClr val="6E675A"/>
                </a:solidFill>
              </a:rPr>
              <a:t>No product or issue dropdowns. What they wrote is the only thing the model sees.</a:t>
            </a:r>
            <a:endParaRPr lang="en-US" sz="1150" dirty="0"/>
          </a:p>
        </p:txBody>
      </p:sp>
      <p:sp>
        <p:nvSpPr>
          <p:cNvPr id="22" name="n2"/>
          <p:cNvSpPr/>
          <p:nvPr/>
        </p:nvSpPr>
        <p:spPr>
          <a:xfrm>
            <a:off x="7498080" y="3264408"/>
            <a:ext cx="365760" cy="365760"/>
          </a:xfrm>
          <a:prstGeom prst="ellipse">
            <a:avLst/>
          </a:prstGeom>
          <a:solidFill>
            <a:srgbClr val="8A7340"/>
          </a:solidFill>
          <a:ln w="12700">
            <a:solidFill>
              <a:srgbClr val="8A7340"/>
            </a:solidFill>
            <a:prstDash val="solid"/>
          </a:ln>
        </p:spPr>
      </p:sp>
      <p:sp>
        <p:nvSpPr>
          <p:cNvPr id="23" name="Text 21"/>
          <p:cNvSpPr txBox="1"/>
          <p:nvPr/>
        </p:nvSpPr>
        <p:spPr>
          <a:xfrm>
            <a:off x="7498080" y="3264408"/>
            <a:ext cx="365760" cy="365760"/>
          </a:xfrm>
          <a:prstGeom prst="rect">
            <a:avLst/>
          </a:prstGeom>
          <a:noFill/>
          <a:ln/>
        </p:spPr>
        <p:txBody>
          <a:bodyPr wrap="square" lIns="0" tIns="0" rIns="0" bIns="0" rtlCol="0" anchor="ctr"/>
          <a:lstStyle/>
          <a:p>
            <a:pPr algn="ctr" indent="0" marL="0">
              <a:buNone/>
            </a:pPr>
            <a:r>
              <a:rPr lang="en-US" sz="1300" b="1" dirty="0">
                <a:solidFill>
                  <a:srgbClr val="FAF7EF"/>
                </a:solidFill>
              </a:rPr>
              <a:t>2</a:t>
            </a:r>
            <a:endParaRPr lang="en-US" sz="1300" dirty="0"/>
          </a:p>
        </p:txBody>
      </p:sp>
      <p:sp>
        <p:nvSpPr>
          <p:cNvPr id="24" name="Text 22"/>
          <p:cNvSpPr txBox="1"/>
          <p:nvPr/>
        </p:nvSpPr>
        <p:spPr>
          <a:xfrm>
            <a:off x="8028432" y="3246120"/>
            <a:ext cx="3474720" cy="256032"/>
          </a:xfrm>
          <a:prstGeom prst="rect">
            <a:avLst/>
          </a:prstGeom>
          <a:noFill/>
          <a:ln/>
        </p:spPr>
        <p:txBody>
          <a:bodyPr wrap="square" lIns="0" tIns="0" rIns="0" bIns="0" rtlCol="0" anchor="ctr"/>
          <a:lstStyle/>
          <a:p>
            <a:pPr algn="l" indent="0" marL="0">
              <a:buNone/>
            </a:pPr>
            <a:r>
              <a:rPr lang="en-US" sz="1350" b="1" dirty="0">
                <a:solidFill>
                  <a:srgbClr val="2E2B26"/>
                </a:solidFill>
              </a:rPr>
              <a:t>It knows when to stop</a:t>
            </a:r>
            <a:endParaRPr lang="en-US" sz="1350" dirty="0"/>
          </a:p>
        </p:txBody>
      </p:sp>
      <p:sp>
        <p:nvSpPr>
          <p:cNvPr id="25" name="Text 23"/>
          <p:cNvSpPr txBox="1"/>
          <p:nvPr/>
        </p:nvSpPr>
        <p:spPr>
          <a:xfrm>
            <a:off x="8028432" y="3511296"/>
            <a:ext cx="3474720" cy="566928"/>
          </a:xfrm>
          <a:prstGeom prst="rect">
            <a:avLst/>
          </a:prstGeom>
          <a:noFill/>
          <a:ln/>
        </p:spPr>
        <p:txBody>
          <a:bodyPr wrap="square" lIns="0" tIns="0" rIns="0" bIns="0" rtlCol="0" anchor="ctr"/>
          <a:lstStyle/>
          <a:p>
            <a:pPr algn="l" indent="0" marL="0">
              <a:lnSpc>
                <a:spcPct val="112000"/>
              </a:lnSpc>
              <a:buNone/>
            </a:pPr>
            <a:r>
              <a:rPr lang="en-US" sz="1150" dirty="0">
                <a:solidFill>
                  <a:srgbClr val="6E675A"/>
                </a:solidFill>
              </a:rPr>
              <a:t>If it is not confident enough, the complaint goes to a person instead. Holding back is the point.</a:t>
            </a:r>
            <a:endParaRPr lang="en-US" sz="1150" dirty="0"/>
          </a:p>
        </p:txBody>
      </p:sp>
      <p:sp>
        <p:nvSpPr>
          <p:cNvPr id="26" name="n3"/>
          <p:cNvSpPr/>
          <p:nvPr/>
        </p:nvSpPr>
        <p:spPr>
          <a:xfrm>
            <a:off x="7498080" y="4242816"/>
            <a:ext cx="365760" cy="365760"/>
          </a:xfrm>
          <a:prstGeom prst="ellipse">
            <a:avLst/>
          </a:prstGeom>
          <a:solidFill>
            <a:srgbClr val="8A7340"/>
          </a:solidFill>
          <a:ln w="12700">
            <a:solidFill>
              <a:srgbClr val="8A7340"/>
            </a:solidFill>
            <a:prstDash val="solid"/>
          </a:ln>
        </p:spPr>
      </p:sp>
      <p:sp>
        <p:nvSpPr>
          <p:cNvPr id="27" name="Text 25"/>
          <p:cNvSpPr txBox="1"/>
          <p:nvPr/>
        </p:nvSpPr>
        <p:spPr>
          <a:xfrm>
            <a:off x="7498080" y="4242816"/>
            <a:ext cx="365760" cy="365760"/>
          </a:xfrm>
          <a:prstGeom prst="rect">
            <a:avLst/>
          </a:prstGeom>
          <a:noFill/>
          <a:ln/>
        </p:spPr>
        <p:txBody>
          <a:bodyPr wrap="square" lIns="0" tIns="0" rIns="0" bIns="0" rtlCol="0" anchor="ctr"/>
          <a:lstStyle/>
          <a:p>
            <a:pPr algn="ctr" indent="0" marL="0">
              <a:buNone/>
            </a:pPr>
            <a:r>
              <a:rPr lang="en-US" sz="1300" b="1" dirty="0">
                <a:solidFill>
                  <a:srgbClr val="FAF7EF"/>
                </a:solidFill>
              </a:rPr>
              <a:t>3</a:t>
            </a:r>
            <a:endParaRPr lang="en-US" sz="1300" dirty="0"/>
          </a:p>
        </p:txBody>
      </p:sp>
      <p:sp>
        <p:nvSpPr>
          <p:cNvPr id="28" name="Text 26"/>
          <p:cNvSpPr txBox="1"/>
          <p:nvPr/>
        </p:nvSpPr>
        <p:spPr>
          <a:xfrm>
            <a:off x="8028432" y="4224528"/>
            <a:ext cx="3474720" cy="256032"/>
          </a:xfrm>
          <a:prstGeom prst="rect">
            <a:avLst/>
          </a:prstGeom>
          <a:noFill/>
          <a:ln/>
        </p:spPr>
        <p:txBody>
          <a:bodyPr wrap="square" lIns="0" tIns="0" rIns="0" bIns="0" rtlCol="0" anchor="ctr"/>
          <a:lstStyle/>
          <a:p>
            <a:pPr algn="l" indent="0" marL="0">
              <a:buNone/>
            </a:pPr>
            <a:r>
              <a:rPr lang="en-US" sz="1350" b="1" dirty="0">
                <a:solidFill>
                  <a:srgbClr val="2E2B26"/>
                </a:solidFill>
              </a:rPr>
              <a:t>The ID closes the loop</a:t>
            </a:r>
            <a:endParaRPr lang="en-US" sz="1350" dirty="0"/>
          </a:p>
        </p:txBody>
      </p:sp>
      <p:sp>
        <p:nvSpPr>
          <p:cNvPr id="29" name="Text 27"/>
          <p:cNvSpPr txBox="1"/>
          <p:nvPr/>
        </p:nvSpPr>
        <p:spPr>
          <a:xfrm>
            <a:off x="8028432" y="4489704"/>
            <a:ext cx="3474720" cy="566928"/>
          </a:xfrm>
          <a:prstGeom prst="rect">
            <a:avLst/>
          </a:prstGeom>
          <a:noFill/>
          <a:ln/>
        </p:spPr>
        <p:txBody>
          <a:bodyPr wrap="square" lIns="0" tIns="0" rIns="0" bIns="0" rtlCol="0" anchor="ctr"/>
          <a:lstStyle/>
          <a:p>
            <a:pPr algn="l" indent="0" marL="0">
              <a:lnSpc>
                <a:spcPct val="112000"/>
              </a:lnSpc>
              <a:buNone/>
            </a:pPr>
            <a:r>
              <a:rPr lang="en-US" sz="1150" dirty="0">
                <a:solidFill>
                  <a:srgbClr val="6E675A"/>
                </a:solidFill>
              </a:rPr>
              <a:t>Second tab: paste the ID and see the status, the team, and what you wrote.</a:t>
            </a:r>
            <a:endParaRPr lang="en-US" sz="1150" dirty="0"/>
          </a:p>
        </p:txBody>
      </p:sp>
      <p:sp>
        <p:nvSpPr>
          <p:cNvPr id="30" name="n4"/>
          <p:cNvSpPr/>
          <p:nvPr/>
        </p:nvSpPr>
        <p:spPr>
          <a:xfrm>
            <a:off x="7498080" y="5221224"/>
            <a:ext cx="365760" cy="365760"/>
          </a:xfrm>
          <a:prstGeom prst="ellipse">
            <a:avLst/>
          </a:prstGeom>
          <a:solidFill>
            <a:srgbClr val="A8935E"/>
          </a:solidFill>
          <a:ln w="12700">
            <a:solidFill>
              <a:srgbClr val="A8935E"/>
            </a:solidFill>
            <a:prstDash val="solid"/>
          </a:ln>
        </p:spPr>
      </p:sp>
      <p:sp>
        <p:nvSpPr>
          <p:cNvPr id="31" name="Text 29"/>
          <p:cNvSpPr txBox="1"/>
          <p:nvPr/>
        </p:nvSpPr>
        <p:spPr>
          <a:xfrm>
            <a:off x="7498080" y="5221224"/>
            <a:ext cx="365760" cy="365760"/>
          </a:xfrm>
          <a:prstGeom prst="rect">
            <a:avLst/>
          </a:prstGeom>
          <a:noFill/>
          <a:ln/>
        </p:spPr>
        <p:txBody>
          <a:bodyPr wrap="square" lIns="0" tIns="0" rIns="0" bIns="0" rtlCol="0" anchor="ctr"/>
          <a:lstStyle/>
          <a:p>
            <a:pPr algn="ctr" indent="0" marL="0">
              <a:buNone/>
            </a:pPr>
            <a:r>
              <a:rPr lang="en-US" sz="1300" b="1" dirty="0">
                <a:solidFill>
                  <a:srgbClr val="FAF7EF"/>
                </a:solidFill>
              </a:rPr>
              <a:t>4</a:t>
            </a:r>
            <a:endParaRPr lang="en-US" sz="1300" dirty="0"/>
          </a:p>
        </p:txBody>
      </p:sp>
      <p:sp>
        <p:nvSpPr>
          <p:cNvPr id="32" name="Text 30"/>
          <p:cNvSpPr txBox="1"/>
          <p:nvPr/>
        </p:nvSpPr>
        <p:spPr>
          <a:xfrm>
            <a:off x="8028432" y="5202936"/>
            <a:ext cx="3474720" cy="256032"/>
          </a:xfrm>
          <a:prstGeom prst="rect">
            <a:avLst/>
          </a:prstGeom>
          <a:noFill/>
          <a:ln/>
        </p:spPr>
        <p:txBody>
          <a:bodyPr wrap="square" lIns="0" tIns="0" rIns="0" bIns="0" rtlCol="0" anchor="ctr"/>
          <a:lstStyle/>
          <a:p>
            <a:pPr algn="l" indent="0" marL="0">
              <a:buNone/>
            </a:pPr>
            <a:r>
              <a:rPr lang="en-US" sz="1350" b="1" dirty="0">
                <a:solidFill>
                  <a:srgbClr val="2E2B26"/>
                </a:solidFill>
              </a:rPr>
              <a:t>This is the earlier model</a:t>
            </a:r>
            <a:endParaRPr lang="en-US" sz="1350" dirty="0"/>
          </a:p>
        </p:txBody>
      </p:sp>
      <p:sp>
        <p:nvSpPr>
          <p:cNvPr id="33" name="Text 31"/>
          <p:cNvSpPr txBox="1"/>
          <p:nvPr/>
        </p:nvSpPr>
        <p:spPr>
          <a:xfrm>
            <a:off x="8028432" y="5468112"/>
            <a:ext cx="3474720" cy="566928"/>
          </a:xfrm>
          <a:prstGeom prst="rect">
            <a:avLst/>
          </a:prstGeom>
          <a:noFill/>
          <a:ln/>
        </p:spPr>
        <p:txBody>
          <a:bodyPr wrap="square" lIns="0" tIns="0" rIns="0" bIns="0" rtlCol="0" anchor="ctr"/>
          <a:lstStyle/>
          <a:p>
            <a:pPr algn="l" indent="0" marL="0">
              <a:lnSpc>
                <a:spcPct val="112000"/>
              </a:lnSpc>
              <a:buNone/>
            </a:pPr>
            <a:r>
              <a:rPr lang="en-US" sz="1150" dirty="0">
                <a:solidFill>
                  <a:srgbClr val="6E675A"/>
                </a:solidFill>
              </a:rPr>
              <a:t>The smarter one is measured and ready — putting it in the app is the next step.</a:t>
            </a:r>
            <a:endParaRPr lang="en-US" sz="1150" dirty="0"/>
          </a:p>
        </p:txBody>
      </p:sp>
      <p:sp>
        <p:nvSpPr>
          <p:cNvPr id="35" name="Text 1"/>
          <p:cNvSpPr/>
          <p:nvPr>
            <p:ph idx="103" type="body" hasCustomPrompt="1"/>
          </p:nvPr>
        </p:nvSpPr>
        <p:spPr>
          <a:xfrm>
            <a:off x="11185855" y="6400800"/>
            <a:ext cx="320040" cy="274320"/>
          </a:xfrm>
          <a:prstGeom prst="rect">
            <a:avLst/>
          </a:prstGeom>
          <a:noFill/>
          <a:ln/>
        </p:spPr>
        <p:txBody>
          <a:bodyPr wrap="square" lIns="0" tIns="0" rIns="0" bIns="0" rtlCol="0"/>
          <a:lstStyle/>
          <a:p>
            <a:pPr algn="r" indent="0" marL="0">
              <a:buNone/>
            </a:pPr>
            <a:endParaRPr lang="en-US" sz="1000" dirty="0"/>
          </a:p>
        </p:txBody>
      </p:sp>
      <p:sp>
        <p:nvSpPr>
          <p:cNvPr id="25" name="Slide Number Placeholder 0"/>
          <p:cNvSpPr>
            <a:spLocks noGrp="1"/>
          </p:cNvSpPr>
          <p:nvPr>
            <p:ph type="sldNum" sz="quarter" idx="4294967295"/>
          </p:nvPr>
        </p:nvSpPr>
        <p:spPr>
          <a:xfrm>
            <a:off x="11185855" y="6400800"/>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75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420624"/>
            <a:ext cx="6400800" cy="292608"/>
          </a:xfrm>
          <a:prstGeom prst="rect">
            <a:avLst/>
          </a:prstGeom>
          <a:noFill/>
          <a:ln/>
        </p:spPr>
        <p:txBody>
          <a:bodyPr wrap="square" lIns="0" tIns="0" rIns="0" bIns="0" rtlCol="0"/>
          <a:lstStyle/>
          <a:p>
            <a:pPr algn="l" indent="0" marL="0">
              <a:buNone/>
            </a:pPr>
            <a:r>
              <a:rPr lang="en-US" sz="1300" b="1" spc="180" kern="0" dirty="0">
                <a:solidFill>
                  <a:schemeClr val="accent1"/>
                </a:solidFill>
              </a:rPr>
              <a:t>Our Plan</a:t>
            </a:r>
            <a:endParaRPr lang="en-US" sz="1300" dirty="0"/>
          </a:p>
        </p:txBody>
      </p:sp>
      <p:sp>
        <p:nvSpPr>
          <p:cNvPr id="3" name="Text 1"/>
          <p:cNvSpPr/>
          <p:nvPr>
            <p:ph idx="102" type="title" hasCustomPrompt="1"/>
          </p:nvPr>
        </p:nvSpPr>
        <p:spPr>
          <a:xfrm>
            <a:off x="685800" y="786384"/>
            <a:ext cx="10789920" cy="731520"/>
          </a:xfrm>
          <a:prstGeom prst="rect">
            <a:avLst/>
          </a:prstGeom>
          <a:noFill/>
          <a:ln/>
        </p:spPr>
        <p:txBody>
          <a:bodyPr wrap="square" lIns="0" tIns="0" rIns="0" bIns="0" rtlCol="0"/>
          <a:lstStyle/>
          <a:p>
            <a:pPr algn="l" indent="0" marL="0">
              <a:buNone/>
            </a:pPr>
            <a:r>
              <a:rPr lang="en-US" sz="3400" dirty="0">
                <a:solidFill>
                  <a:schemeClr val="tx1"/>
                </a:solidFill>
              </a:rPr>
              <a:t>Between now and demo day</a:t>
            </a:r>
            <a:endParaRPr lang="en-US" sz="3400" dirty="0"/>
          </a:p>
        </p:txBody>
      </p:sp>
      <p:sp>
        <p:nvSpPr>
          <p:cNvPr id="4" name="axis"/>
          <p:cNvSpPr/>
          <p:nvPr/>
        </p:nvSpPr>
        <p:spPr>
          <a:xfrm>
            <a:off x="685800" y="3657600"/>
            <a:ext cx="10698480" cy="0"/>
          </a:xfrm>
          <a:prstGeom prst="line">
            <a:avLst/>
          </a:prstGeom>
          <a:noFill/>
          <a:ln w="28575">
            <a:solidFill>
              <a:srgbClr val="8A7340"/>
            </a:solidFill>
            <a:prstDash val="solid"/>
            <a:tailEnd type="triangle"/>
          </a:ln>
        </p:spPr>
      </p:sp>
      <p:sp>
        <p:nvSpPr>
          <p:cNvPr id="5" name="stem0"/>
          <p:cNvSpPr/>
          <p:nvPr/>
        </p:nvSpPr>
        <p:spPr>
          <a:xfrm>
            <a:off x="914400" y="1783080"/>
            <a:ext cx="0" cy="1874520"/>
          </a:xfrm>
          <a:prstGeom prst="line">
            <a:avLst/>
          </a:prstGeom>
          <a:noFill/>
          <a:ln w="12700">
            <a:solidFill>
              <a:srgbClr val="A8935E"/>
            </a:solidFill>
            <a:prstDash val="solid"/>
          </a:ln>
        </p:spPr>
      </p:sp>
      <p:sp>
        <p:nvSpPr>
          <p:cNvPr id="6" name="pt0"/>
          <p:cNvSpPr/>
          <p:nvPr/>
        </p:nvSpPr>
        <p:spPr>
          <a:xfrm>
            <a:off x="854964" y="3598164"/>
            <a:ext cx="118872" cy="118872"/>
          </a:xfrm>
          <a:prstGeom prst="ellipse">
            <a:avLst/>
          </a:prstGeom>
          <a:solidFill>
            <a:srgbClr val="8A7340"/>
          </a:solidFill>
          <a:ln w="12700">
            <a:solidFill>
              <a:srgbClr val="8A7340"/>
            </a:solidFill>
            <a:prstDash val="solid"/>
          </a:ln>
        </p:spPr>
      </p:sp>
      <p:sp>
        <p:nvSpPr>
          <p:cNvPr id="7" name="Text 5"/>
          <p:cNvSpPr txBox="1"/>
          <p:nvPr/>
        </p:nvSpPr>
        <p:spPr>
          <a:xfrm>
            <a:off x="1042416" y="1737360"/>
            <a:ext cx="2377440" cy="310896"/>
          </a:xfrm>
          <a:prstGeom prst="rect">
            <a:avLst/>
          </a:prstGeom>
          <a:noFill/>
          <a:ln/>
        </p:spPr>
        <p:txBody>
          <a:bodyPr wrap="square" lIns="0" tIns="0" rIns="0" bIns="0" rtlCol="0" anchor="ctr"/>
          <a:lstStyle/>
          <a:p>
            <a:pPr algn="l" indent="0" marL="0">
              <a:buNone/>
            </a:pPr>
            <a:r>
              <a:rPr lang="en-US" sz="1700" b="1" dirty="0">
                <a:solidFill>
                  <a:srgbClr val="8A7340"/>
                </a:solidFill>
              </a:rPr>
              <a:t>Issue-Level Accuracy</a:t>
            </a:r>
            <a:endParaRPr lang="en-US" sz="1700" dirty="0"/>
          </a:p>
        </p:txBody>
      </p:sp>
      <p:sp>
        <p:nvSpPr>
          <p:cNvPr id="8" name="Text 6"/>
          <p:cNvSpPr txBox="1"/>
          <p:nvPr/>
        </p:nvSpPr>
        <p:spPr>
          <a:xfrm>
            <a:off x="1042416" y="2066544"/>
            <a:ext cx="2377440" cy="1600200"/>
          </a:xfrm>
          <a:prstGeom prst="rect">
            <a:avLst/>
          </a:prstGeom>
          <a:noFill/>
          <a:ln/>
        </p:spPr>
        <p:txBody>
          <a:bodyPr wrap="square" lIns="0" tIns="0" rIns="0" bIns="0" rtlCol="0" anchor="t"/>
          <a:lstStyle/>
          <a:p>
            <a:pPr algn="l" indent="0" marL="0">
              <a:lnSpc>
                <a:spcPct val="115000"/>
              </a:lnSpc>
              <a:buNone/>
            </a:pPr>
            <a:r>
              <a:rPr lang="en-US" sz="1250" dirty="0">
                <a:solidFill>
                  <a:srgbClr val="2E2B26"/>
                </a:solidFill>
              </a:rPr>
              <a:t>Raise issue macro-F1 from 0.367 so a complaint arrives named, not just routed. Everything downstream depends on knowing which issue the consumer is reporting.</a:t>
            </a:r>
            <a:endParaRPr lang="en-US" sz="1250" dirty="0"/>
          </a:p>
        </p:txBody>
      </p:sp>
      <p:sp>
        <p:nvSpPr>
          <p:cNvPr id="9" name="stem1"/>
          <p:cNvSpPr/>
          <p:nvPr/>
        </p:nvSpPr>
        <p:spPr>
          <a:xfrm>
            <a:off x="3611880" y="3657600"/>
            <a:ext cx="0" cy="640080"/>
          </a:xfrm>
          <a:prstGeom prst="line">
            <a:avLst/>
          </a:prstGeom>
          <a:noFill/>
          <a:ln w="12700">
            <a:solidFill>
              <a:srgbClr val="A8935E"/>
            </a:solidFill>
            <a:prstDash val="solid"/>
          </a:ln>
        </p:spPr>
      </p:sp>
      <p:sp>
        <p:nvSpPr>
          <p:cNvPr id="10" name="pt1"/>
          <p:cNvSpPr/>
          <p:nvPr/>
        </p:nvSpPr>
        <p:spPr>
          <a:xfrm>
            <a:off x="3552444" y="3598164"/>
            <a:ext cx="118872" cy="118872"/>
          </a:xfrm>
          <a:prstGeom prst="ellipse">
            <a:avLst/>
          </a:prstGeom>
          <a:solidFill>
            <a:srgbClr val="8A7340"/>
          </a:solidFill>
          <a:ln w="12700">
            <a:solidFill>
              <a:srgbClr val="8A7340"/>
            </a:solidFill>
            <a:prstDash val="solid"/>
          </a:ln>
        </p:spPr>
      </p:sp>
      <p:sp>
        <p:nvSpPr>
          <p:cNvPr id="11" name="Text 9"/>
          <p:cNvSpPr txBox="1"/>
          <p:nvPr/>
        </p:nvSpPr>
        <p:spPr>
          <a:xfrm>
            <a:off x="3739896" y="4297680"/>
            <a:ext cx="2377440" cy="310896"/>
          </a:xfrm>
          <a:prstGeom prst="rect">
            <a:avLst/>
          </a:prstGeom>
          <a:noFill/>
          <a:ln/>
        </p:spPr>
        <p:txBody>
          <a:bodyPr wrap="square" lIns="0" tIns="0" rIns="0" bIns="0" rtlCol="0" anchor="ctr"/>
          <a:lstStyle/>
          <a:p>
            <a:pPr algn="l" indent="0" marL="0">
              <a:buNone/>
            </a:pPr>
            <a:r>
              <a:rPr lang="en-US" sz="1700" b="1" dirty="0">
                <a:solidFill>
                  <a:srgbClr val="8A7340"/>
                </a:solidFill>
              </a:rPr>
              <a:t>Resolution Guidance</a:t>
            </a:r>
            <a:endParaRPr lang="en-US" sz="1700" dirty="0"/>
          </a:p>
        </p:txBody>
      </p:sp>
      <p:sp>
        <p:nvSpPr>
          <p:cNvPr id="12" name="Text 10"/>
          <p:cNvSpPr txBox="1"/>
          <p:nvPr/>
        </p:nvSpPr>
        <p:spPr>
          <a:xfrm>
            <a:off x="3739896" y="4626864"/>
            <a:ext cx="2377440" cy="1600200"/>
          </a:xfrm>
          <a:prstGeom prst="rect">
            <a:avLst/>
          </a:prstGeom>
          <a:noFill/>
          <a:ln/>
        </p:spPr>
        <p:txBody>
          <a:bodyPr wrap="square" lIns="0" tIns="0" rIns="0" bIns="0" rtlCol="0" anchor="t"/>
          <a:lstStyle/>
          <a:p>
            <a:pPr algn="l" indent="0" marL="0">
              <a:lnSpc>
                <a:spcPct val="115000"/>
              </a:lnSpc>
              <a:buNone/>
            </a:pPr>
            <a:r>
              <a:rPr lang="en-US" sz="1250" dirty="0">
                <a:solidFill>
                  <a:srgbClr val="2E2B26"/>
                </a:solidFill>
              </a:rPr>
              <a:t>An LLM drafts the steps to resolve a routed complaint: what the consumer is owed, what the handler should verify, which regulation applies. The system proposes, a person decides.</a:t>
            </a:r>
            <a:endParaRPr lang="en-US" sz="1250" dirty="0"/>
          </a:p>
        </p:txBody>
      </p:sp>
      <p:sp>
        <p:nvSpPr>
          <p:cNvPr id="13" name="stem2"/>
          <p:cNvSpPr/>
          <p:nvPr/>
        </p:nvSpPr>
        <p:spPr>
          <a:xfrm>
            <a:off x="6309360" y="1783080"/>
            <a:ext cx="0" cy="1874520"/>
          </a:xfrm>
          <a:prstGeom prst="line">
            <a:avLst/>
          </a:prstGeom>
          <a:noFill/>
          <a:ln w="12700">
            <a:solidFill>
              <a:srgbClr val="A8935E"/>
            </a:solidFill>
            <a:prstDash val="solid"/>
          </a:ln>
        </p:spPr>
      </p:sp>
      <p:sp>
        <p:nvSpPr>
          <p:cNvPr id="14" name="pt2"/>
          <p:cNvSpPr/>
          <p:nvPr/>
        </p:nvSpPr>
        <p:spPr>
          <a:xfrm>
            <a:off x="6249924" y="3598164"/>
            <a:ext cx="118872" cy="118872"/>
          </a:xfrm>
          <a:prstGeom prst="ellipse">
            <a:avLst/>
          </a:prstGeom>
          <a:solidFill>
            <a:srgbClr val="8A7340"/>
          </a:solidFill>
          <a:ln w="12700">
            <a:solidFill>
              <a:srgbClr val="8A7340"/>
            </a:solidFill>
            <a:prstDash val="solid"/>
          </a:ln>
        </p:spPr>
      </p:sp>
      <p:sp>
        <p:nvSpPr>
          <p:cNvPr id="15" name="Text 13"/>
          <p:cNvSpPr txBox="1"/>
          <p:nvPr/>
        </p:nvSpPr>
        <p:spPr>
          <a:xfrm>
            <a:off x="6437376" y="1737360"/>
            <a:ext cx="2377440" cy="310896"/>
          </a:xfrm>
          <a:prstGeom prst="rect">
            <a:avLst/>
          </a:prstGeom>
          <a:noFill/>
          <a:ln/>
        </p:spPr>
        <p:txBody>
          <a:bodyPr wrap="square" lIns="0" tIns="0" rIns="0" bIns="0" rtlCol="0" anchor="ctr"/>
          <a:lstStyle/>
          <a:p>
            <a:pPr algn="l" indent="0" marL="0">
              <a:buNone/>
            </a:pPr>
            <a:r>
              <a:rPr lang="en-US" sz="1700" b="1" dirty="0">
                <a:solidFill>
                  <a:srgbClr val="8A7340"/>
                </a:solidFill>
              </a:rPr>
              <a:t>Agent with Escalation</a:t>
            </a:r>
            <a:endParaRPr lang="en-US" sz="1700" dirty="0"/>
          </a:p>
        </p:txBody>
      </p:sp>
      <p:sp>
        <p:nvSpPr>
          <p:cNvPr id="16" name="Text 14"/>
          <p:cNvSpPr txBox="1"/>
          <p:nvPr/>
        </p:nvSpPr>
        <p:spPr>
          <a:xfrm>
            <a:off x="6437376" y="2066544"/>
            <a:ext cx="2377440" cy="1600200"/>
          </a:xfrm>
          <a:prstGeom prst="rect">
            <a:avLst/>
          </a:prstGeom>
          <a:noFill/>
          <a:ln/>
        </p:spPr>
        <p:txBody>
          <a:bodyPr wrap="square" lIns="0" tIns="0" rIns="0" bIns="0" rtlCol="0" anchor="t"/>
          <a:lstStyle/>
          <a:p>
            <a:pPr algn="l" indent="0" marL="0">
              <a:lnSpc>
                <a:spcPct val="115000"/>
              </a:lnSpc>
              <a:buNone/>
            </a:pPr>
            <a:r>
              <a:rPr lang="en-US" sz="1250" dirty="0">
                <a:solidFill>
                  <a:srgbClr val="2E2B26"/>
                </a:solidFill>
              </a:rPr>
              <a:t>The agent acts on the straightforward cases under the same confidence discipline that governs the router today. What it cannot resolve goes to a person, exactly as the router already escalates.</a:t>
            </a:r>
            <a:endParaRPr lang="en-US" sz="1250" dirty="0"/>
          </a:p>
        </p:txBody>
      </p:sp>
      <p:sp>
        <p:nvSpPr>
          <p:cNvPr id="17" name="stem3"/>
          <p:cNvSpPr/>
          <p:nvPr/>
        </p:nvSpPr>
        <p:spPr>
          <a:xfrm>
            <a:off x="9006840" y="3657600"/>
            <a:ext cx="0" cy="640080"/>
          </a:xfrm>
          <a:prstGeom prst="line">
            <a:avLst/>
          </a:prstGeom>
          <a:noFill/>
          <a:ln w="12700">
            <a:solidFill>
              <a:srgbClr val="A8935E"/>
            </a:solidFill>
            <a:prstDash val="solid"/>
          </a:ln>
        </p:spPr>
      </p:sp>
      <p:sp>
        <p:nvSpPr>
          <p:cNvPr id="18" name="pt3"/>
          <p:cNvSpPr/>
          <p:nvPr/>
        </p:nvSpPr>
        <p:spPr>
          <a:xfrm>
            <a:off x="8947404" y="3598164"/>
            <a:ext cx="118872" cy="118872"/>
          </a:xfrm>
          <a:prstGeom prst="ellipse">
            <a:avLst/>
          </a:prstGeom>
          <a:solidFill>
            <a:srgbClr val="8A7340"/>
          </a:solidFill>
          <a:ln w="12700">
            <a:solidFill>
              <a:srgbClr val="8A7340"/>
            </a:solidFill>
            <a:prstDash val="solid"/>
          </a:ln>
        </p:spPr>
      </p:sp>
      <p:sp>
        <p:nvSpPr>
          <p:cNvPr id="19" name="Text 17"/>
          <p:cNvSpPr txBox="1"/>
          <p:nvPr/>
        </p:nvSpPr>
        <p:spPr>
          <a:xfrm>
            <a:off x="9134856" y="4297680"/>
            <a:ext cx="2377440" cy="310896"/>
          </a:xfrm>
          <a:prstGeom prst="rect">
            <a:avLst/>
          </a:prstGeom>
          <a:noFill/>
          <a:ln/>
        </p:spPr>
        <p:txBody>
          <a:bodyPr wrap="square" lIns="0" tIns="0" rIns="0" bIns="0" rtlCol="0" anchor="ctr"/>
          <a:lstStyle/>
          <a:p>
            <a:pPr algn="l" indent="0" marL="0">
              <a:buNone/>
            </a:pPr>
            <a:r>
              <a:rPr lang="en-US" sz="1700" b="1" dirty="0">
                <a:solidFill>
                  <a:srgbClr val="8A7340"/>
                </a:solidFill>
              </a:rPr>
              <a:t>User Testing</a:t>
            </a:r>
            <a:endParaRPr lang="en-US" sz="1700" dirty="0"/>
          </a:p>
        </p:txBody>
      </p:sp>
      <p:sp>
        <p:nvSpPr>
          <p:cNvPr id="20" name="Text 18"/>
          <p:cNvSpPr txBox="1"/>
          <p:nvPr/>
        </p:nvSpPr>
        <p:spPr>
          <a:xfrm>
            <a:off x="9134856" y="4626864"/>
            <a:ext cx="2377440" cy="1600200"/>
          </a:xfrm>
          <a:prstGeom prst="rect">
            <a:avLst/>
          </a:prstGeom>
          <a:noFill/>
          <a:ln/>
        </p:spPr>
        <p:txBody>
          <a:bodyPr wrap="square" lIns="0" tIns="0" rIns="0" bIns="0" rtlCol="0" anchor="t"/>
          <a:lstStyle/>
          <a:p>
            <a:pPr algn="l" indent="0" marL="0">
              <a:lnSpc>
                <a:spcPct val="115000"/>
              </a:lnSpc>
              <a:buNone/>
            </a:pPr>
            <a:r>
              <a:rPr lang="en-US" sz="1250" dirty="0">
                <a:solidFill>
                  <a:srgbClr val="2E2B26"/>
                </a:solidFill>
              </a:rPr>
              <a:t>Put the live app in front of people outside the team and measure whether the routed team matches what a handler would pick. This is the evidence we have not yet collected.</a:t>
            </a:r>
            <a:endParaRPr lang="en-US" sz="1250" dirty="0"/>
          </a:p>
        </p:txBody>
      </p:sp>
      <p:sp>
        <p:nvSpPr>
          <p:cNvPr id="21" name="Text 19"/>
          <p:cNvSpPr txBox="1"/>
          <p:nvPr/>
        </p:nvSpPr>
        <p:spPr>
          <a:xfrm>
            <a:off x="685800" y="6199632"/>
            <a:ext cx="10698480" cy="310896"/>
          </a:xfrm>
          <a:prstGeom prst="rect">
            <a:avLst/>
          </a:prstGeom>
          <a:noFill/>
          <a:ln/>
        </p:spPr>
        <p:txBody>
          <a:bodyPr wrap="square" lIns="0" tIns="0" rIns="0" bIns="0" rtlCol="0" anchor="ctr"/>
          <a:lstStyle/>
          <a:p>
            <a:pPr algn="l" indent="0" marL="0">
              <a:buNone/>
            </a:pPr>
            <a:r>
              <a:rPr lang="en-US" sz="1250" i="1" dirty="0">
                <a:solidFill>
                  <a:srgbClr val="6E675A"/>
                </a:solidFill>
              </a:rPr>
              <a:t>First step, already measured: putting the smarter model behind the live app. That is a release, not research.</a:t>
            </a:r>
            <a:endParaRPr lang="en-US" sz="1250" dirty="0"/>
          </a:p>
        </p:txBody>
      </p:sp>
      <p:sp>
        <p:nvSpPr>
          <p:cNvPr id="23" name="Text 1"/>
          <p:cNvSpPr/>
          <p:nvPr>
            <p:ph idx="103" type="body" hasCustomPrompt="1"/>
          </p:nvPr>
        </p:nvSpPr>
        <p:spPr>
          <a:xfrm>
            <a:off x="11185855" y="6400800"/>
            <a:ext cx="320040" cy="274320"/>
          </a:xfrm>
          <a:prstGeom prst="rect">
            <a:avLst/>
          </a:prstGeom>
          <a:noFill/>
          <a:ln/>
        </p:spPr>
        <p:txBody>
          <a:bodyPr wrap="square" lIns="0" tIns="0" rIns="0" bIns="0" rtlCol="0"/>
          <a:lstStyle/>
          <a:p>
            <a:pPr algn="r" indent="0" marL="0">
              <a:buNone/>
            </a:pPr>
            <a:endParaRPr lang="en-US" sz="1000" dirty="0"/>
          </a:p>
        </p:txBody>
      </p:sp>
      <p:sp>
        <p:nvSpPr>
          <p:cNvPr id="25" name="Slide Number Placeholder 0"/>
          <p:cNvSpPr>
            <a:spLocks noGrp="1"/>
          </p:cNvSpPr>
          <p:nvPr>
            <p:ph type="sldNum" sz="quarter" idx="4294967295"/>
          </p:nvPr>
        </p:nvSpPr>
        <p:spPr>
          <a:xfrm>
            <a:off x="11185855" y="6400800"/>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75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2148840"/>
            <a:ext cx="8229600" cy="1280160"/>
          </a:xfrm>
          <a:prstGeom prst="rect">
            <a:avLst/>
          </a:prstGeom>
          <a:noFill/>
          <a:ln/>
        </p:spPr>
        <p:txBody>
          <a:bodyPr wrap="square" lIns="0" tIns="0" rIns="0" bIns="0" rtlCol="0"/>
          <a:lstStyle/>
          <a:p>
            <a:pPr algn="l" indent="0" marL="0">
              <a:buNone/>
            </a:pPr>
            <a:r>
              <a:rPr lang="en-US" sz="5600" b="1" dirty="0">
                <a:solidFill>
                  <a:schemeClr val="tx1"/>
                </a:solidFill>
              </a:rPr>
              <a:t>Questions</a:t>
            </a:r>
            <a:endParaRPr lang="en-US" sz="5600" dirty="0"/>
          </a:p>
        </p:txBody>
      </p:sp>
      <p:sp>
        <p:nvSpPr>
          <p:cNvPr id="3" name="Text 0"/>
          <p:cNvSpPr/>
          <p:nvPr>
            <p:ph idx="101" type="body" hasCustomPrompt="1"/>
          </p:nvPr>
        </p:nvSpPr>
        <p:spPr>
          <a:xfrm>
            <a:off x="685800" y="3474720"/>
            <a:ext cx="7680960" cy="777240"/>
          </a:xfrm>
          <a:prstGeom prst="rect">
            <a:avLst/>
          </a:prstGeom>
          <a:noFill/>
          <a:ln/>
        </p:spPr>
        <p:txBody>
          <a:bodyPr wrap="square" lIns="0" tIns="0" rIns="0" bIns="0" rtlCol="0"/>
          <a:lstStyle/>
          <a:p>
            <a:pPr algn="l" indent="0" marL="0">
              <a:buNone/>
            </a:pPr>
            <a:r>
              <a:rPr lang="en-US" sz="2000" dirty="0">
                <a:solidFill>
                  <a:schemeClr val="accent1"/>
                </a:solidFill>
              </a:rPr>
              <a:t>Happy to go deeper on the model, the confidence bar, or the labels</a:t>
            </a:r>
            <a:endParaRPr lang="en-US" sz="2000" dirty="0"/>
          </a:p>
        </p:txBody>
      </p:sp>
      <p:sp>
        <p:nvSpPr>
          <p:cNvPr id="4" name="Text 2"/>
          <p:cNvSpPr txBox="1"/>
          <p:nvPr/>
        </p:nvSpPr>
        <p:spPr>
          <a:xfrm>
            <a:off x="685800" y="4846320"/>
            <a:ext cx="2560320" cy="548640"/>
          </a:xfrm>
          <a:prstGeom prst="rect">
            <a:avLst/>
          </a:prstGeom>
          <a:noFill/>
          <a:ln/>
        </p:spPr>
        <p:txBody>
          <a:bodyPr wrap="square" lIns="0" tIns="0" rIns="0" bIns="0" rtlCol="0" anchor="ctr"/>
          <a:lstStyle/>
          <a:p>
            <a:pPr algn="l" indent="0" marL="0">
              <a:buNone/>
            </a:pPr>
            <a:r>
              <a:rPr lang="en-US" sz="3000" b="1" dirty="0">
                <a:solidFill>
                  <a:srgbClr val="8A7340"/>
                </a:solidFill>
              </a:rPr>
              <a:t>61.5%</a:t>
            </a:r>
            <a:endParaRPr lang="en-US" sz="3000" dirty="0"/>
          </a:p>
        </p:txBody>
      </p:sp>
      <p:sp>
        <p:nvSpPr>
          <p:cNvPr id="5" name="Text 3"/>
          <p:cNvSpPr txBox="1"/>
          <p:nvPr/>
        </p:nvSpPr>
        <p:spPr>
          <a:xfrm>
            <a:off x="685800" y="5394960"/>
            <a:ext cx="2560320" cy="274320"/>
          </a:xfrm>
          <a:prstGeom prst="rect">
            <a:avLst/>
          </a:prstGeom>
          <a:noFill/>
          <a:ln/>
        </p:spPr>
        <p:txBody>
          <a:bodyPr wrap="square" lIns="0" tIns="0" rIns="0" bIns="0" rtlCol="0" anchor="ctr"/>
          <a:lstStyle/>
          <a:p>
            <a:pPr algn="l" indent="0" marL="0">
              <a:buNone/>
            </a:pPr>
            <a:r>
              <a:rPr lang="en-US" sz="1200" dirty="0">
                <a:solidFill>
                  <a:srgbClr val="6E675A"/>
                </a:solidFill>
              </a:rPr>
              <a:t>routed automatically</a:t>
            </a:r>
            <a:endParaRPr lang="en-US" sz="1200" dirty="0"/>
          </a:p>
        </p:txBody>
      </p:sp>
      <p:sp>
        <p:nvSpPr>
          <p:cNvPr id="6" name="Text 4"/>
          <p:cNvSpPr txBox="1"/>
          <p:nvPr/>
        </p:nvSpPr>
        <p:spPr>
          <a:xfrm>
            <a:off x="3429000" y="4846320"/>
            <a:ext cx="2560320" cy="548640"/>
          </a:xfrm>
          <a:prstGeom prst="rect">
            <a:avLst/>
          </a:prstGeom>
          <a:noFill/>
          <a:ln/>
        </p:spPr>
        <p:txBody>
          <a:bodyPr wrap="square" lIns="0" tIns="0" rIns="0" bIns="0" rtlCol="0" anchor="ctr"/>
          <a:lstStyle/>
          <a:p>
            <a:pPr algn="l" indent="0" marL="0">
              <a:buNone/>
            </a:pPr>
            <a:r>
              <a:rPr lang="en-US" sz="3000" b="1" dirty="0">
                <a:solidFill>
                  <a:srgbClr val="2E2B26"/>
                </a:solidFill>
              </a:rPr>
              <a:t>84%</a:t>
            </a:r>
            <a:endParaRPr lang="en-US" sz="3000" dirty="0"/>
          </a:p>
        </p:txBody>
      </p:sp>
      <p:sp>
        <p:nvSpPr>
          <p:cNvPr id="7" name="Text 5"/>
          <p:cNvSpPr txBox="1"/>
          <p:nvPr/>
        </p:nvSpPr>
        <p:spPr>
          <a:xfrm>
            <a:off x="3429000" y="5394960"/>
            <a:ext cx="2560320" cy="274320"/>
          </a:xfrm>
          <a:prstGeom prst="rect">
            <a:avLst/>
          </a:prstGeom>
          <a:noFill/>
          <a:ln/>
        </p:spPr>
        <p:txBody>
          <a:bodyPr wrap="square" lIns="0" tIns="0" rIns="0" bIns="0" rtlCol="0" anchor="ctr"/>
          <a:lstStyle/>
          <a:p>
            <a:pPr algn="l" indent="0" marL="0">
              <a:buNone/>
            </a:pPr>
            <a:r>
              <a:rPr lang="en-US" sz="1200" dirty="0">
                <a:solidFill>
                  <a:srgbClr val="6E675A"/>
                </a:solidFill>
              </a:rPr>
              <a:t>sent to the right team</a:t>
            </a:r>
            <a:endParaRPr lang="en-US" sz="1200" dirty="0"/>
          </a:p>
        </p:txBody>
      </p:sp>
      <p:sp>
        <p:nvSpPr>
          <p:cNvPr id="8" name="Text 6"/>
          <p:cNvSpPr txBox="1"/>
          <p:nvPr/>
        </p:nvSpPr>
        <p:spPr>
          <a:xfrm>
            <a:off x="6172200" y="4846320"/>
            <a:ext cx="2560320" cy="548640"/>
          </a:xfrm>
          <a:prstGeom prst="rect">
            <a:avLst/>
          </a:prstGeom>
          <a:noFill/>
          <a:ln/>
        </p:spPr>
        <p:txBody>
          <a:bodyPr wrap="square" lIns="0" tIns="0" rIns="0" bIns="0" rtlCol="0" anchor="ctr"/>
          <a:lstStyle/>
          <a:p>
            <a:pPr algn="l" indent="0" marL="0">
              <a:buNone/>
            </a:pPr>
            <a:r>
              <a:rPr lang="en-US" sz="3000" b="1" dirty="0">
                <a:solidFill>
                  <a:srgbClr val="5F6B52"/>
                </a:solidFill>
              </a:rPr>
              <a:t>11 of 11</a:t>
            </a:r>
            <a:endParaRPr lang="en-US" sz="3000" dirty="0"/>
          </a:p>
        </p:txBody>
      </p:sp>
      <p:sp>
        <p:nvSpPr>
          <p:cNvPr id="9" name="Text 7"/>
          <p:cNvSpPr txBox="1"/>
          <p:nvPr/>
        </p:nvSpPr>
        <p:spPr>
          <a:xfrm>
            <a:off x="6172200" y="5394960"/>
            <a:ext cx="2560320" cy="274320"/>
          </a:xfrm>
          <a:prstGeom prst="rect">
            <a:avLst/>
          </a:prstGeom>
          <a:noFill/>
          <a:ln/>
        </p:spPr>
        <p:txBody>
          <a:bodyPr wrap="square" lIns="0" tIns="0" rIns="0" bIns="0" rtlCol="0" anchor="ctr"/>
          <a:lstStyle/>
          <a:p>
            <a:pPr algn="l" indent="0" marL="0">
              <a:buNone/>
            </a:pPr>
            <a:r>
              <a:rPr lang="en-US" sz="1200" dirty="0">
                <a:solidFill>
                  <a:srgbClr val="6E675A"/>
                </a:solidFill>
              </a:rPr>
              <a:t>teams above the bar</a:t>
            </a:r>
            <a:endParaRPr lang="en-US" sz="1200" dirty="0"/>
          </a:p>
        </p:txBody>
      </p:sp>
      <p:sp>
        <p:nvSpPr>
          <p:cNvPr id="10" name="Text 8"/>
          <p:cNvSpPr txBox="1"/>
          <p:nvPr/>
        </p:nvSpPr>
        <p:spPr>
          <a:xfrm>
            <a:off x="8915400" y="4846320"/>
            <a:ext cx="2560320" cy="548640"/>
          </a:xfrm>
          <a:prstGeom prst="rect">
            <a:avLst/>
          </a:prstGeom>
          <a:noFill/>
          <a:ln/>
        </p:spPr>
        <p:txBody>
          <a:bodyPr wrap="square" lIns="0" tIns="0" rIns="0" bIns="0" rtlCol="0" anchor="ctr"/>
          <a:lstStyle/>
          <a:p>
            <a:pPr algn="l" indent="0" marL="0">
              <a:buNone/>
            </a:pPr>
            <a:r>
              <a:rPr lang="en-US" sz="3000" b="1" dirty="0">
                <a:solidFill>
                  <a:srgbClr val="A8935E"/>
                </a:solidFill>
              </a:rPr>
              <a:t>1.04M</a:t>
            </a:r>
            <a:endParaRPr lang="en-US" sz="3000" dirty="0"/>
          </a:p>
        </p:txBody>
      </p:sp>
      <p:sp>
        <p:nvSpPr>
          <p:cNvPr id="11" name="Text 9"/>
          <p:cNvSpPr txBox="1"/>
          <p:nvPr/>
        </p:nvSpPr>
        <p:spPr>
          <a:xfrm>
            <a:off x="8915400" y="5394960"/>
            <a:ext cx="2560320" cy="274320"/>
          </a:xfrm>
          <a:prstGeom prst="rect">
            <a:avLst/>
          </a:prstGeom>
          <a:noFill/>
          <a:ln/>
        </p:spPr>
        <p:txBody>
          <a:bodyPr wrap="square" lIns="0" tIns="0" rIns="0" bIns="0" rtlCol="0" anchor="ctr"/>
          <a:lstStyle/>
          <a:p>
            <a:pPr algn="l" indent="0" marL="0">
              <a:buNone/>
            </a:pPr>
            <a:r>
              <a:rPr lang="en-US" sz="1200" dirty="0">
                <a:solidFill>
                  <a:srgbClr val="6E675A"/>
                </a:solidFill>
              </a:rPr>
              <a:t>complaints in the corpus</a:t>
            </a:r>
            <a:endParaRPr lang="en-US" sz="1200" dirty="0"/>
          </a:p>
        </p:txBody>
      </p:sp>
      <p:sp>
        <p:nvSpPr>
          <p:cNvPr id="12" name="rule2"/>
          <p:cNvSpPr/>
          <p:nvPr/>
        </p:nvSpPr>
        <p:spPr>
          <a:xfrm>
            <a:off x="685800" y="5897880"/>
            <a:ext cx="10789920" cy="0"/>
          </a:xfrm>
          <a:prstGeom prst="line">
            <a:avLst/>
          </a:prstGeom>
          <a:noFill/>
          <a:ln w="15875">
            <a:solidFill>
              <a:srgbClr val="DED6C2"/>
            </a:solidFill>
            <a:prstDash val="solid"/>
          </a:ln>
        </p:spPr>
      </p:sp>
      <p:sp>
        <p:nvSpPr>
          <p:cNvPr id="13" name="Text 11"/>
          <p:cNvSpPr txBox="1"/>
          <p:nvPr/>
        </p:nvSpPr>
        <p:spPr>
          <a:xfrm>
            <a:off x="685800" y="6035040"/>
            <a:ext cx="10789920" cy="274320"/>
          </a:xfrm>
          <a:prstGeom prst="rect">
            <a:avLst/>
          </a:prstGeom>
          <a:noFill/>
          <a:ln/>
        </p:spPr>
        <p:txBody>
          <a:bodyPr wrap="square" lIns="0" tIns="0" rIns="0" bIns="0" rtlCol="0" anchor="ctr"/>
          <a:lstStyle/>
          <a:p>
            <a:pPr algn="l" indent="0" marL="0">
              <a:buNone/>
            </a:pPr>
            <a:r>
              <a:rPr lang="en-US" sz="1100" b="1" dirty="0">
                <a:solidFill>
                  <a:srgbClr val="8A7340"/>
                </a:solidFill>
              </a:rPr>
              <a:t>claricase-enmuypbz78oqjgiec98bhw.streamlit.app   ·   github.com/farcypeer46/ClariCase</a:t>
            </a:r>
            <a:endParaRPr lang="en-US" sz="1100" dirty="0"/>
          </a:p>
        </p:txBody>
      </p:sp>
    </p:spTree>
  </p:cSld>
  <p:clrMapOvr>
    <a:masterClrMapping/>
  </p:clrMapOvr>
</p:sld>
</file>

<file path=ppt/theme/theme1.xml><?xml version="1.0" encoding="utf-8"?>
<a:theme xmlns:a="http://schemas.openxmlformats.org/drawingml/2006/main" name="ClariCase Cream">
  <a:themeElements>
    <a:clrScheme name="ClariCase Cream">
      <a:dk1>
        <a:srgbClr val="2E2B26"/>
      </a:dk1>
      <a:lt1>
        <a:srgbClr val="FAF7EF"/>
      </a:lt1>
      <a:dk2>
        <a:srgbClr val="6E675A"/>
      </a:dk2>
      <a:lt2>
        <a:srgbClr val="F2EDE0"/>
      </a:lt2>
      <a:accent1>
        <a:srgbClr val="8A7340"/>
      </a:accent1>
      <a:accent2>
        <a:srgbClr val="A8935E"/>
      </a:accent2>
      <a:accent3>
        <a:srgbClr val="C4B58E"/>
      </a:accent3>
      <a:accent4>
        <a:srgbClr val="5F6B52"/>
      </a:accent4>
      <a:accent5>
        <a:srgbClr val="B0653C"/>
      </a:accent5>
      <a:accent6>
        <a:srgbClr val="FFFFFF"/>
      </a:accent6>
      <a:hlink>
        <a:srgbClr val="8A7340"/>
      </a:hlink>
      <a:folHlink>
        <a:srgbClr val="6E675A"/>
      </a:folHlink>
    </a:clrScheme>
    <a:fontScheme name="ClariCase Cream">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ClariCase - Midterm Review</dc:title>
  <dc:subject>PptxGenJS Presentation</dc:subject>
  <dc:creator>Team ClariCase</dc:creator>
  <cp:lastModifiedBy>Team ClariCase</cp:lastModifiedBy>
  <cp:revision>1</cp:revision>
  <dcterms:created xsi:type="dcterms:W3CDTF">2026-10-06T15:19:47Z</dcterms:created>
  <dcterms:modified xsi:type="dcterms:W3CDTF">2026-10-06T15:19:47Z</dcterms:modified>
</cp:coreProperties>
</file>