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as two halves. Stages 1 to 3 are what we have built and measured today - intake, product and team, then the issue. Stage 4 onward is the plan: retrieve similar past complaints, work out the root cause, build an action plan, draft a response. The auditor loop is the important part - the writer never gets the last word, and anything failing the policy and citation check goes back for a rewrite rather than out to the consumer.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4360" y="384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594360" y="1115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Eight-stage agentic pipeline from intake to resolution</a:t>
            </a:r>
            <a:endParaRPr lang="en-US" sz="1700" dirty="0"/>
          </a:p>
        </p:txBody>
      </p:sp>
      <p:sp>
        <p:nvSpPr>
          <p:cNvPr id="4" name="n-complaint"/>
          <p:cNvSpPr/>
          <p:nvPr/>
        </p:nvSpPr>
        <p:spPr>
          <a:xfrm>
            <a:off x="502920" y="1856232"/>
            <a:ext cx="1691640" cy="640080"/>
          </a:xfrm>
          <a:prstGeom prst="ellipse">
            <a:avLst/>
          </a:prstGeom>
          <a:solidFill>
            <a:srgbClr val="F6C9CE"/>
          </a:solidFill>
          <a:ln w="12700">
            <a:solidFill>
              <a:srgbClr val="F6C9C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Incoming Customer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</a:t>
            </a:r>
            <a:endParaRPr lang="en-US" sz="1100" dirty="0"/>
          </a:p>
        </p:txBody>
      </p:sp>
      <p:sp>
        <p:nvSpPr>
          <p:cNvPr id="5" name="n-vectordb"/>
          <p:cNvSpPr/>
          <p:nvPr/>
        </p:nvSpPr>
        <p:spPr>
          <a:xfrm>
            <a:off x="2542032" y="1810512"/>
            <a:ext cx="1005840" cy="731520"/>
          </a:xfrm>
          <a:prstGeom prst="can">
            <a:avLst/>
          </a:prstGeom>
          <a:solidFill>
            <a:srgbClr val="F3C892"/>
          </a:solidFill>
          <a:ln w="12700">
            <a:solidFill>
              <a:srgbClr val="F3C89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 /</a:t>
            </a:r>
            <a:endParaRPr lang="en-US" sz="11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Reranker</a:t>
            </a:r>
            <a:endParaRPr lang="en-US" sz="1100" dirty="0"/>
          </a:p>
        </p:txBody>
      </p:sp>
      <p:sp>
        <p:nvSpPr>
          <p:cNvPr id="6" name="lbl-fetch"/>
          <p:cNvSpPr txBox="1"/>
          <p:nvPr/>
        </p:nvSpPr>
        <p:spPr>
          <a:xfrm>
            <a:off x="3611880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C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C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000" dirty="0"/>
          </a:p>
        </p:txBody>
      </p:sp>
      <p:sp>
        <p:nvSpPr>
          <p:cNvPr id="7" name="n-4-rootcause"/>
          <p:cNvSpPr/>
          <p:nvPr/>
        </p:nvSpPr>
        <p:spPr>
          <a:xfrm>
            <a:off x="4709160" y="1856232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ROOT CAUSE AGENT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with Historical Data</a:t>
            </a:r>
            <a:endParaRPr lang="en-US" sz="1150" dirty="0"/>
          </a:p>
        </p:txBody>
      </p:sp>
      <p:sp>
        <p:nvSpPr>
          <p:cNvPr id="8" name="n-5-mcp"/>
          <p:cNvSpPr/>
          <p:nvPr/>
        </p:nvSpPr>
        <p:spPr>
          <a:xfrm>
            <a:off x="6172200" y="2788920"/>
            <a:ext cx="1645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MCP SERVER +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REMEDIATOR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&amp; SLA Generation</a:t>
            </a:r>
            <a:endParaRPr lang="en-US" sz="1150" dirty="0"/>
          </a:p>
        </p:txBody>
      </p:sp>
      <p:sp>
        <p:nvSpPr>
          <p:cNvPr id="9" name="n-6-writer"/>
          <p:cNvSpPr/>
          <p:nvPr/>
        </p:nvSpPr>
        <p:spPr>
          <a:xfrm>
            <a:off x="8275320" y="2788920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WRITER AGENT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Drafts Final Responses</a:t>
            </a:r>
            <a:endParaRPr lang="en-US" sz="1150" dirty="0"/>
          </a:p>
        </p:txBody>
      </p:sp>
      <p:sp>
        <p:nvSpPr>
          <p:cNvPr id="10" name="n-fail"/>
          <p:cNvSpPr/>
          <p:nvPr/>
        </p:nvSpPr>
        <p:spPr>
          <a:xfrm>
            <a:off x="10287000" y="3794760"/>
            <a:ext cx="1325880" cy="384048"/>
          </a:xfrm>
          <a:prstGeom prst="rect">
            <a:avLst/>
          </a:prstGeom>
          <a:solidFill>
            <a:srgbClr val="C9C9C9"/>
          </a:solidFill>
          <a:ln w="12700">
            <a:solidFill>
              <a:srgbClr val="C9C9C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1200" dirty="0"/>
          </a:p>
        </p:txBody>
      </p:sp>
      <p:sp>
        <p:nvSpPr>
          <p:cNvPr id="11" name="n-1-intake"/>
          <p:cNvSpPr/>
          <p:nvPr/>
        </p:nvSpPr>
        <p:spPr>
          <a:xfrm>
            <a:off x="566928" y="3383280"/>
            <a:ext cx="1280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INTAKE AGENT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Scrubbing</a:t>
            </a:r>
            <a:endParaRPr lang="en-US" sz="1150" dirty="0"/>
          </a:p>
        </p:txBody>
      </p:sp>
      <p:sp>
        <p:nvSpPr>
          <p:cNvPr id="12" name="n-2-product"/>
          <p:cNvSpPr/>
          <p:nvPr/>
        </p:nvSpPr>
        <p:spPr>
          <a:xfrm>
            <a:off x="1874520" y="4462272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PRODUCT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AGENT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Team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(few-shot prompting)</a:t>
            </a:r>
            <a:endParaRPr lang="en-US" sz="1150" dirty="0"/>
          </a:p>
        </p:txBody>
      </p:sp>
      <p:sp>
        <p:nvSpPr>
          <p:cNvPr id="13" name="n-3-issue"/>
          <p:cNvSpPr/>
          <p:nvPr/>
        </p:nvSpPr>
        <p:spPr>
          <a:xfrm>
            <a:off x="4617720" y="4389120"/>
            <a:ext cx="1737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ISSUE CLASSIFIER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Streamlines issues related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product,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level, Severity level</a:t>
            </a:r>
            <a:endParaRPr lang="en-US" sz="1150" dirty="0"/>
          </a:p>
        </p:txBody>
      </p:sp>
      <p:sp>
        <p:nvSpPr>
          <p:cNvPr id="14" name="n-7-auditor"/>
          <p:cNvSpPr/>
          <p:nvPr/>
        </p:nvSpPr>
        <p:spPr>
          <a:xfrm>
            <a:off x="8001000" y="4224528"/>
            <a:ext cx="2148840" cy="1005840"/>
          </a:xfrm>
          <a:prstGeom prst="diamond">
            <a:avLst/>
          </a:prstGeom>
          <a:solidFill>
            <a:srgbClr val="F7E98E"/>
          </a:solidFill>
          <a:ln w="12700">
            <a:solidFill>
              <a:srgbClr val="F7E98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AUDITOR AGENT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Citation</a:t>
            </a:r>
            <a:endParaRPr lang="en-US" sz="1050" dirty="0"/>
          </a:p>
        </p:txBody>
      </p:sp>
      <p:sp>
        <p:nvSpPr>
          <p:cNvPr id="15" name="n-pass"/>
          <p:cNvSpPr/>
          <p:nvPr/>
        </p:nvSpPr>
        <p:spPr>
          <a:xfrm>
            <a:off x="8577072" y="5468112"/>
            <a:ext cx="1005840" cy="274320"/>
          </a:xfrm>
          <a:prstGeom prst="rect">
            <a:avLst/>
          </a:prstGeom>
          <a:solidFill>
            <a:srgbClr val="BBD3F2"/>
          </a:solidFill>
          <a:ln w="12700">
            <a:solidFill>
              <a:srgbClr val="BBD3F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100" dirty="0"/>
          </a:p>
        </p:txBody>
      </p:sp>
      <p:sp>
        <p:nvSpPr>
          <p:cNvPr id="16" name="n-8-explainer"/>
          <p:cNvSpPr/>
          <p:nvPr/>
        </p:nvSpPr>
        <p:spPr>
          <a:xfrm>
            <a:off x="8138160" y="596188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EXPLAINER AGENT</a:t>
            </a:r>
            <a:endParaRPr lang="en-US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Generates Audit Trail</a:t>
            </a:r>
            <a:endParaRPr lang="en-US" sz="1150" dirty="0"/>
          </a:p>
        </p:txBody>
      </p:sp>
      <p:sp>
        <p:nvSpPr>
          <p:cNvPr id="17" name="n-done"/>
          <p:cNvSpPr/>
          <p:nvPr/>
        </p:nvSpPr>
        <p:spPr>
          <a:xfrm>
            <a:off x="10241280" y="5870448"/>
            <a:ext cx="1783080" cy="749808"/>
          </a:xfrm>
          <a:prstGeom prst="rect">
            <a:avLst/>
          </a:prstGeom>
          <a:solidFill>
            <a:srgbClr val="C6E8CE"/>
          </a:solidFill>
          <a:ln w="12700">
            <a:solidFill>
              <a:srgbClr val="C6E8C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Resolution</a:t>
            </a:r>
            <a:endParaRPr lang="en-US" sz="10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compliant, action steps</a:t>
            </a:r>
            <a:endParaRPr lang="en-US" sz="10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confidence score</a:t>
            </a:r>
            <a:endParaRPr lang="en-US" sz="1000" dirty="0"/>
          </a:p>
        </p:txBody>
      </p:sp>
      <p:sp>
        <p:nvSpPr>
          <p:cNvPr id="18" name="e1"/>
          <p:cNvSpPr/>
          <p:nvPr/>
        </p:nvSpPr>
        <p:spPr>
          <a:xfrm>
            <a:off x="2194560" y="2176272"/>
            <a:ext cx="347472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19" name="e2"/>
          <p:cNvSpPr/>
          <p:nvPr/>
        </p:nvSpPr>
        <p:spPr>
          <a:xfrm>
            <a:off x="3547872" y="2212848"/>
            <a:ext cx="1161288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0" name="e3"/>
          <p:cNvSpPr/>
          <p:nvPr/>
        </p:nvSpPr>
        <p:spPr>
          <a:xfrm>
            <a:off x="1207008" y="2496312"/>
            <a:ext cx="0" cy="886968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1" name="e4a"/>
          <p:cNvSpPr/>
          <p:nvPr/>
        </p:nvSpPr>
        <p:spPr>
          <a:xfrm>
            <a:off x="1207008" y="4114800"/>
            <a:ext cx="0" cy="841248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</a:ln>
        </p:spPr>
      </p:sp>
      <p:sp>
        <p:nvSpPr>
          <p:cNvPr id="22" name="e4b"/>
          <p:cNvSpPr/>
          <p:nvPr/>
        </p:nvSpPr>
        <p:spPr>
          <a:xfrm>
            <a:off x="1207008" y="4956048"/>
            <a:ext cx="667512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3" name="e5"/>
          <p:cNvSpPr/>
          <p:nvPr/>
        </p:nvSpPr>
        <p:spPr>
          <a:xfrm>
            <a:off x="3429000" y="4956048"/>
            <a:ext cx="1188720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4" name="e6"/>
          <p:cNvSpPr/>
          <p:nvPr/>
        </p:nvSpPr>
        <p:spPr>
          <a:xfrm>
            <a:off x="5486400" y="2569464"/>
            <a:ext cx="0" cy="1819656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headEnd type="triangle"/>
          </a:ln>
        </p:spPr>
      </p:sp>
      <p:sp>
        <p:nvSpPr>
          <p:cNvPr id="25" name="e7a"/>
          <p:cNvSpPr/>
          <p:nvPr/>
        </p:nvSpPr>
        <p:spPr>
          <a:xfrm>
            <a:off x="6492240" y="2212848"/>
            <a:ext cx="502920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</a:ln>
        </p:spPr>
      </p:sp>
      <p:sp>
        <p:nvSpPr>
          <p:cNvPr id="26" name="e7b"/>
          <p:cNvSpPr/>
          <p:nvPr/>
        </p:nvSpPr>
        <p:spPr>
          <a:xfrm>
            <a:off x="6995160" y="2212848"/>
            <a:ext cx="0" cy="576072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7" name="e8"/>
          <p:cNvSpPr/>
          <p:nvPr/>
        </p:nvSpPr>
        <p:spPr>
          <a:xfrm>
            <a:off x="7818120" y="3118104"/>
            <a:ext cx="457200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8" name="e9"/>
          <p:cNvSpPr/>
          <p:nvPr/>
        </p:nvSpPr>
        <p:spPr>
          <a:xfrm>
            <a:off x="9144000" y="3447288"/>
            <a:ext cx="0" cy="77724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9" name="e10a"/>
          <p:cNvSpPr/>
          <p:nvPr/>
        </p:nvSpPr>
        <p:spPr>
          <a:xfrm>
            <a:off x="10149840" y="4727448"/>
            <a:ext cx="795528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</a:ln>
        </p:spPr>
      </p:sp>
      <p:sp>
        <p:nvSpPr>
          <p:cNvPr id="30" name="e10b"/>
          <p:cNvSpPr/>
          <p:nvPr/>
        </p:nvSpPr>
        <p:spPr>
          <a:xfrm>
            <a:off x="10945368" y="4178808"/>
            <a:ext cx="0" cy="54864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headEnd type="triangle"/>
          </a:ln>
        </p:spPr>
      </p:sp>
      <p:sp>
        <p:nvSpPr>
          <p:cNvPr id="31" name="e11a"/>
          <p:cNvSpPr/>
          <p:nvPr/>
        </p:nvSpPr>
        <p:spPr>
          <a:xfrm>
            <a:off x="10945368" y="3118104"/>
            <a:ext cx="0" cy="676656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</a:ln>
        </p:spPr>
      </p:sp>
      <p:sp>
        <p:nvSpPr>
          <p:cNvPr id="32" name="e11b"/>
          <p:cNvSpPr/>
          <p:nvPr/>
        </p:nvSpPr>
        <p:spPr>
          <a:xfrm>
            <a:off x="10012680" y="3118104"/>
            <a:ext cx="932688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headEnd type="triangle"/>
          </a:ln>
        </p:spPr>
      </p:sp>
      <p:sp>
        <p:nvSpPr>
          <p:cNvPr id="33" name="e12"/>
          <p:cNvSpPr/>
          <p:nvPr/>
        </p:nvSpPr>
        <p:spPr>
          <a:xfrm>
            <a:off x="9079992" y="5230368"/>
            <a:ext cx="0" cy="237744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34" name="e13"/>
          <p:cNvSpPr/>
          <p:nvPr/>
        </p:nvSpPr>
        <p:spPr>
          <a:xfrm>
            <a:off x="9079992" y="5742432"/>
            <a:ext cx="0" cy="219456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35" name="e14"/>
          <p:cNvSpPr/>
          <p:nvPr/>
        </p:nvSpPr>
        <p:spPr>
          <a:xfrm>
            <a:off x="9966960" y="6245352"/>
            <a:ext cx="274320" cy="0"/>
          </a:xfrm>
          <a:prstGeom prst="line">
            <a:avLst/>
          </a:prstGeom>
          <a:noFill/>
          <a:ln w="15875">
            <a:solidFill>
              <a:srgbClr val="D7DCE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ClariCase - End-to-End Workflow</dc:title>
  <dc:subject>PptxGenJS Presentation</dc:subject>
  <dc:creator>Team ClariCase</dc:creator>
  <cp:lastModifiedBy>Team ClariCase</cp:lastModifiedBy>
  <cp:revision>1</cp:revision>
  <dcterms:created xsi:type="dcterms:W3CDTF">2026-10-06T20:01:28Z</dcterms:created>
  <dcterms:modified xsi:type="dcterms:W3CDTF">2026-10-06T20:01:28Z</dcterms:modified>
</cp:coreProperties>
</file>